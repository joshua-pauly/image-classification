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4"/>
  </p:sldMasterIdLst>
  <p:notesMasterIdLst>
    <p:notesMasterId r:id="rId21"/>
  </p:notesMasterIdLst>
  <p:sldIdLst>
    <p:sldId id="256" r:id="rId5"/>
    <p:sldId id="257" r:id="rId6"/>
    <p:sldId id="258" r:id="rId7"/>
    <p:sldId id="259" r:id="rId8"/>
    <p:sldId id="261" r:id="rId9"/>
    <p:sldId id="266" r:id="rId10"/>
    <p:sldId id="260" r:id="rId11"/>
    <p:sldId id="262" r:id="rId12"/>
    <p:sldId id="272" r:id="rId13"/>
    <p:sldId id="268" r:id="rId14"/>
    <p:sldId id="270" r:id="rId15"/>
    <p:sldId id="271" r:id="rId16"/>
    <p:sldId id="265" r:id="rId17"/>
    <p:sldId id="267" r:id="rId18"/>
    <p:sldId id="263" r:id="rId19"/>
    <p:sldId id="26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9FB213-4184-4315-B083-CA2614FD6EA7}">
          <p14:sldIdLst>
            <p14:sldId id="256"/>
            <p14:sldId id="257"/>
            <p14:sldId id="258"/>
            <p14:sldId id="259"/>
            <p14:sldId id="261"/>
            <p14:sldId id="266"/>
            <p14:sldId id="260"/>
            <p14:sldId id="262"/>
            <p14:sldId id="272"/>
            <p14:sldId id="268"/>
            <p14:sldId id="270"/>
            <p14:sldId id="271"/>
            <p14:sldId id="265"/>
            <p14:sldId id="267"/>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7DD314-CFA5-436D-AE7C-9694A9A84289}" v="655" dt="2023-12-04T00:23:05.532"/>
    <p1510:client id="{238D53F5-08B0-4299-ADE7-139C364F2D0A}" v="276" dt="2023-11-30T18:40:18.039"/>
    <p1510:client id="{338398CD-9D04-2E8F-9D81-3639AAC9C625}" v="629" dt="2023-12-04T04:46:05.622"/>
    <p1510:client id="{485D04C5-4F05-4431-95F4-B52B61D48014}" v="3" dt="2023-12-09T01:45:44.360"/>
    <p1510:client id="{6FE4F4AF-8B37-45B1-89FA-C3ECFCE458B6}" v="515" dt="2023-12-02T05:14:29.854"/>
    <p1510:client id="{8171163F-EC88-4359-BB99-49C33E6B4643}" v="593" dt="2023-12-02T22:59:53.054"/>
    <p1510:client id="{FCF25F0F-3EDA-4EF6-A348-D20C4ADBB7A8}" v="178" dt="2023-12-02T21:43:37.6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9BD30D-D03E-4AAF-AD93-15DEC59B8676}" type="datetimeFigureOut">
              <a:t>12/8/2023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3E7678-A311-431B-B858-39244540C909}" type="slidenum">
              <a:t>‹#›</a:t>
            </a:fld>
            <a:endParaRPr lang="en-US"/>
          </a:p>
        </p:txBody>
      </p:sp>
    </p:spTree>
    <p:extLst>
      <p:ext uri="{BB962C8B-B14F-4D97-AF65-F5344CB8AC3E}">
        <p14:creationId xmlns:p14="http://schemas.microsoft.com/office/powerpoint/2010/main" val="2794000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hack.analyticsvidhya.com/"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Josue: The field of computer vision dates back to the 1960s, back then it was believe that it could be possible for computer to see and describe what they saw. However it was during the 1970s when computer vision foundations where lay out. Such as identifying edges, and corners with algorithms as well as image transformation like rescaling and smoothing using gradient functions.</a:t>
            </a:r>
          </a:p>
          <a:p>
            <a:endParaRPr lang="en-US">
              <a:ea typeface="Calibri"/>
              <a:cs typeface="Calibri"/>
            </a:endParaRPr>
          </a:p>
          <a:p>
            <a:r>
              <a:rPr lang="en-US">
                <a:ea typeface="Calibri"/>
                <a:cs typeface="Calibri"/>
              </a:rPr>
              <a:t>Later on new application began to come up such as facial and object recognition as new algorithms and more advance computational power became available. </a:t>
            </a:r>
          </a:p>
          <a:p>
            <a:endParaRPr lang="en-US">
              <a:ea typeface="Calibri"/>
              <a:cs typeface="Calibri"/>
            </a:endParaRPr>
          </a:p>
          <a:p>
            <a:r>
              <a:rPr lang="en-US">
                <a:ea typeface="Calibri"/>
                <a:cs typeface="Calibri"/>
              </a:rPr>
              <a:t>Which brings us to today's age where the field of computer vision now makes a wide use of deep learning algorithms that allows for many more applications to be created and with a wide set of deep learning tools that make it easy to work images and video. </a:t>
            </a: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9D3E7678-A311-431B-B858-39244540C909}" type="slidenum">
              <a:t>2</a:t>
            </a:fld>
            <a:endParaRPr lang="en-US"/>
          </a:p>
        </p:txBody>
      </p:sp>
    </p:spTree>
    <p:extLst>
      <p:ext uri="{BB962C8B-B14F-4D97-AF65-F5344CB8AC3E}">
        <p14:creationId xmlns:p14="http://schemas.microsoft.com/office/powerpoint/2010/main" val="286905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Joshua: In 2018 Intel Sponsored an image classification contest, of natural environments. The data set included around 25k images, 14k images to train from, 3k images to test and 7k images to predict with no labeling. These images are then subdivided in 6 folders for the training and testing dataset, </a:t>
            </a:r>
            <a:r>
              <a:rPr lang="en-US"/>
              <a:t>'buildings' -&gt; 0, 'forest' -&gt; 1, 'glacier' -&gt; 2, 'mountain' -&gt; 3, 'sea' -&gt; 4, 'street' -&gt; 5.  The original contest saw over 3k participants, where the winner had an accuracy rate of 95%.  With the images below we can even see why some humans might not have perfect accuracy rate identifying these images. For example, number 3 has a building in it, however the main focus is on the mountain. Number 0 has a street in the image, but is focused on one building. Number 2 and 4 it may be hard to tell the shades of blue apart. So in reality it is not so easy to identify these images over 6 categories. </a:t>
            </a:r>
            <a:r>
              <a:rPr lang="en-US">
                <a:cs typeface="Calibri"/>
              </a:rPr>
              <a:t>Having machines do the classification, might reduce error and time. </a:t>
            </a:r>
          </a:p>
          <a:p>
            <a:endParaRPr lang="en-US">
              <a:cs typeface="Calibri"/>
            </a:endParaRPr>
          </a:p>
          <a:p>
            <a:r>
              <a:rPr lang="en-US">
                <a:cs typeface="Calibri"/>
              </a:rPr>
              <a:t>This</a:t>
            </a:r>
            <a:r>
              <a:rPr lang="en-US"/>
              <a:t> data was initially published on </a:t>
            </a:r>
            <a:r>
              <a:rPr lang="en-US">
                <a:hlinkClick r:id="rId3"/>
              </a:rPr>
              <a:t>https://datahack.analyticsvidhya.com</a:t>
            </a:r>
            <a:r>
              <a:rPr lang="en-US"/>
              <a:t> by Intel to host a Image classification Challenge</a:t>
            </a:r>
            <a:endParaRPr lang="en-US">
              <a:ea typeface="Calibri"/>
              <a:cs typeface="Calibri"/>
            </a:endParaRPr>
          </a:p>
        </p:txBody>
      </p:sp>
      <p:sp>
        <p:nvSpPr>
          <p:cNvPr id="4" name="Slide Number Placeholder 3"/>
          <p:cNvSpPr>
            <a:spLocks noGrp="1"/>
          </p:cNvSpPr>
          <p:nvPr>
            <p:ph type="sldNum" sz="quarter" idx="5"/>
          </p:nvPr>
        </p:nvSpPr>
        <p:spPr/>
        <p:txBody>
          <a:bodyPr/>
          <a:lstStyle/>
          <a:p>
            <a:fld id="{9D3E7678-A311-431B-B858-39244540C909}" type="slidenum">
              <a:t>3</a:t>
            </a:fld>
            <a:endParaRPr lang="en-US"/>
          </a:p>
        </p:txBody>
      </p:sp>
    </p:spTree>
    <p:extLst>
      <p:ext uri="{BB962C8B-B14F-4D97-AF65-F5344CB8AC3E}">
        <p14:creationId xmlns:p14="http://schemas.microsoft.com/office/powerpoint/2010/main" val="1012329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Joshua: With this large dataset identifying images over six similar natural landscapes comes with challenges. Our idea is to utilize deep learning models to identify weaknesses and strengths of transfer learning and traditional CNNs. Challenges with a large data set is that with more data to train on the longer the run time will be as you have 14K images to train from. With a diverse category of images to predict, the model is not  guaranteed to have a probability of over 50% for one category.  This can lead to the prediction of one image to have a probability that is rather small. For example the image number 3 from the previous slide had a building in a mountain landscape. A model may have 45% probability of the image being a mountain, a 40% chance of it being a building, and because of the image color a 15% of the image being a forest. In this scenario we predict a Mountain but with low confidence. </a:t>
            </a:r>
          </a:p>
          <a:p>
            <a:endParaRPr lang="en-US">
              <a:ea typeface="Calibri"/>
              <a:cs typeface="Calibri"/>
            </a:endParaRPr>
          </a:p>
          <a:p>
            <a:r>
              <a:rPr lang="en-US">
                <a:ea typeface="Calibri"/>
                <a:cs typeface="Calibri"/>
              </a:rPr>
              <a:t>In the future we would like to use our model to classify what landscape the image is of. For a photographer labeling images can save time in the future when choosing what image to use for a client. This reduces the time needed, as the photographer will not need to look through all previous images taken. </a:t>
            </a:r>
          </a:p>
        </p:txBody>
      </p:sp>
      <p:sp>
        <p:nvSpPr>
          <p:cNvPr id="4" name="Slide Number Placeholder 3"/>
          <p:cNvSpPr>
            <a:spLocks noGrp="1"/>
          </p:cNvSpPr>
          <p:nvPr>
            <p:ph type="sldNum" sz="quarter" idx="5"/>
          </p:nvPr>
        </p:nvSpPr>
        <p:spPr/>
        <p:txBody>
          <a:bodyPr/>
          <a:lstStyle/>
          <a:p>
            <a:fld id="{9D3E7678-A311-431B-B858-39244540C909}" type="slidenum">
              <a:t>4</a:t>
            </a:fld>
            <a:endParaRPr lang="en-US"/>
          </a:p>
        </p:txBody>
      </p:sp>
    </p:spTree>
    <p:extLst>
      <p:ext uri="{BB962C8B-B14F-4D97-AF65-F5344CB8AC3E}">
        <p14:creationId xmlns:p14="http://schemas.microsoft.com/office/powerpoint/2010/main" val="1393267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Josue: </a:t>
            </a:r>
          </a:p>
          <a:p>
            <a:endParaRPr lang="en-US">
              <a:ea typeface="Calibri"/>
              <a:cs typeface="Calibri"/>
            </a:endParaRPr>
          </a:p>
          <a:p>
            <a:r>
              <a:rPr lang="en-US">
                <a:ea typeface="Calibri"/>
                <a:cs typeface="Calibri"/>
              </a:rPr>
              <a:t>As part of our data exploration and analysis we had to work with the images as 3-dimensional arrays that contained the pixel values for each channel on the image, that is a red, green and blue channel. </a:t>
            </a:r>
          </a:p>
          <a:p>
            <a:r>
              <a:rPr lang="en-US">
                <a:ea typeface="Calibri"/>
                <a:cs typeface="Calibri"/>
              </a:rPr>
              <a:t>On the very left side you can see an original image of one of the buildings class image. </a:t>
            </a:r>
          </a:p>
          <a:p>
            <a:endParaRPr lang="en-US">
              <a:ea typeface="Calibri"/>
              <a:cs typeface="Calibri"/>
            </a:endParaRPr>
          </a:p>
          <a:p>
            <a:r>
              <a:rPr lang="en-US">
                <a:ea typeface="Calibri"/>
                <a:cs typeface="Calibri"/>
              </a:rPr>
              <a:t>We then computed the max, argmax, min, </a:t>
            </a:r>
            <a:r>
              <a:rPr lang="en-US" err="1">
                <a:ea typeface="Calibri"/>
                <a:cs typeface="Calibri"/>
              </a:rPr>
              <a:t>argmin</a:t>
            </a:r>
            <a:r>
              <a:rPr lang="en-US">
                <a:ea typeface="Calibri"/>
                <a:cs typeface="Calibri"/>
              </a:rPr>
              <a:t>, median, standard deviation and mean values for all the images for each class and then created a correlation matrix to see if there was any correlation between the statical calculations. Though the only correlation that we found was that of the mean and median values, which is to be expected. </a:t>
            </a:r>
          </a:p>
          <a:p>
            <a:endParaRPr lang="en-US">
              <a:ea typeface="Calibri"/>
              <a:cs typeface="Calibri"/>
            </a:endParaRPr>
          </a:p>
          <a:p>
            <a:r>
              <a:rPr lang="en-US">
                <a:ea typeface="Calibri"/>
                <a:cs typeface="Calibri"/>
              </a:rPr>
              <a:t>Additionally we calculated the average color share of the images for each class. This was calculated by using the </a:t>
            </a:r>
            <a:r>
              <a:rPr lang="en-US" err="1">
                <a:ea typeface="Calibri"/>
                <a:cs typeface="Calibri"/>
              </a:rPr>
              <a:t>KMeans</a:t>
            </a:r>
            <a:r>
              <a:rPr lang="en-US">
                <a:ea typeface="Calibri"/>
                <a:cs typeface="Calibri"/>
              </a:rPr>
              <a:t> algorithm to get the cluster centers on the normalized red, green and blue channels. The dominant colors were then calculated by multiplying the cluster center values times the standard deviation divided by 255 for each channel.</a:t>
            </a:r>
          </a:p>
          <a:p>
            <a:endParaRPr lang="en-US">
              <a:ea typeface="Calibri"/>
              <a:cs typeface="Calibri"/>
            </a:endParaRPr>
          </a:p>
          <a:p>
            <a:r>
              <a:rPr lang="en-US">
                <a:ea typeface="Calibri"/>
                <a:cs typeface="Calibri"/>
              </a:rPr>
              <a:t>Then we also calculated the image frequency for each class as shown in the pie chart. Which did not show any signs of class skewness. And finally we calculated the frequency of all of the dimensions for the images for each class. To see if we had to resize images to normalize the data. </a:t>
            </a: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9D3E7678-A311-431B-B858-39244540C909}" type="slidenum">
              <a:t>5</a:t>
            </a:fld>
            <a:endParaRPr lang="en-US"/>
          </a:p>
        </p:txBody>
      </p:sp>
    </p:spTree>
    <p:extLst>
      <p:ext uri="{BB962C8B-B14F-4D97-AF65-F5344CB8AC3E}">
        <p14:creationId xmlns:p14="http://schemas.microsoft.com/office/powerpoint/2010/main" val="2655640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Josue: </a:t>
            </a:r>
            <a:endParaRPr lang="en-US"/>
          </a:p>
          <a:p>
            <a:r>
              <a:rPr lang="en-US">
                <a:cs typeface="Calibri"/>
              </a:rPr>
              <a:t>Some of the data manipulation techniques the we used before working with deep learning-based models was dimensional reduction. Specifically we did dimensionality reduction on the all of the data that is the training and test data. The original images when read into the Python compiler, they had a three channels each with a  2-dimensional matrix of about 150 by 150 pixels. So what we did was to reduce the three channels into a single channel with a single 2-dimensional matrix of 150 by 150. Essentially turning a color image into a black and white image. This manipulation allows for quicker training and allows us to use smaller convolutional layers, there by reducing the complexity of our model. However, as a consequence we lose information on the image, which can hurt the accuracy performance of the model.</a:t>
            </a:r>
            <a:endParaRPr lang="en-US">
              <a:ea typeface="Calibri"/>
              <a:cs typeface="Calibri"/>
            </a:endParaRPr>
          </a:p>
          <a:p>
            <a:endParaRPr lang="en-US">
              <a:ea typeface="Calibri"/>
              <a:cs typeface="Calibri"/>
            </a:endParaRPr>
          </a:p>
          <a:p>
            <a:r>
              <a:rPr lang="en-US">
                <a:ea typeface="Calibri"/>
                <a:cs typeface="Calibri"/>
              </a:rPr>
              <a:t>Joshua: Data augmentation can be used to increase complexity in the data training set. Doing so will increase accuracy scores, as adding images helps the model not overfit if all the training set data is captured in a similar manner. In our dataset for the transfer learning model we used a horizontal flip, random rotation up to 20%, translation, a zoom, and a contrast. Doing these things allows the model to see unique images, and not focus on a particular pattern that may be misleading, and not represented in the test dataset.  </a:t>
            </a:r>
          </a:p>
          <a:p>
            <a:endParaRPr lang="en-US">
              <a:cs typeface="Calibri"/>
            </a:endParaRPr>
          </a:p>
          <a:p>
            <a:r>
              <a:rPr lang="en-US">
                <a:cs typeface="Calibri"/>
              </a:rPr>
              <a:t>Using an image size of 224 x 224 allows CNNs outputs feature maps of size 7x7. This is </a:t>
            </a:r>
            <a:r>
              <a:rPr lang="en-US"/>
              <a:t>these CNN have learned to find certain patterns of certain sizes, so in transfer learning it helps to resize to what a model was previously trained on. In our case our transfer learning models such as VGG was trained on 224 x 224 images.</a:t>
            </a:r>
            <a:endParaRPr lang="en-US">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9D3E7678-A311-431B-B858-39244540C909}" type="slidenum">
              <a:t>6</a:t>
            </a:fld>
            <a:endParaRPr lang="en-US"/>
          </a:p>
        </p:txBody>
      </p:sp>
    </p:spTree>
    <p:extLst>
      <p:ext uri="{BB962C8B-B14F-4D97-AF65-F5344CB8AC3E}">
        <p14:creationId xmlns:p14="http://schemas.microsoft.com/office/powerpoint/2010/main" val="631181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Joshua: To test what is the best approach for image classification we split the work in two, testing a vanilla CNN network which had </a:t>
            </a:r>
            <a:r>
              <a:rPr lang="en-US"/>
              <a:t>4 Convolutional Layers, 4 Max Pooling layers, 1 flatten layer, 3 dense layers, 1 dropout layer. And CNNs from transfer learnings. Transfer learning solutions tested were VGG 16, VGG 19, </a:t>
            </a:r>
            <a:r>
              <a:rPr lang="en-US" err="1"/>
              <a:t>Efficent</a:t>
            </a:r>
            <a:r>
              <a:rPr lang="en-US"/>
              <a:t> net, and Resnet 50. </a:t>
            </a:r>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9D3E7678-A311-431B-B858-39244540C909}" type="slidenum">
              <a:t>7</a:t>
            </a:fld>
            <a:endParaRPr lang="en-US"/>
          </a:p>
        </p:txBody>
      </p:sp>
    </p:spTree>
    <p:extLst>
      <p:ext uri="{BB962C8B-B14F-4D97-AF65-F5344CB8AC3E}">
        <p14:creationId xmlns:p14="http://schemas.microsoft.com/office/powerpoint/2010/main" val="2128361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Josue:</a:t>
            </a:r>
          </a:p>
          <a:p>
            <a:endParaRPr lang="en-US">
              <a:ea typeface="Calibri"/>
              <a:cs typeface="Calibri"/>
            </a:endParaRPr>
          </a:p>
          <a:p>
            <a:r>
              <a:rPr lang="en-US">
                <a:ea typeface="Calibri"/>
                <a:cs typeface="Calibri"/>
              </a:rPr>
              <a:t>For our vanilla convolutional neural network models we tested with different structures. Such as the number of convolutional layers, the size of the filters (such as 32, 48, and 64). As well as the number of pooling layers, the kind of pooling layers, such as a max pooling layer or a average pooling layer. Also the number of dense layers, the number of neurons on each layer, and its activation function.</a:t>
            </a:r>
          </a:p>
          <a:p>
            <a:endParaRPr lang="en-US">
              <a:ea typeface="Calibri"/>
              <a:cs typeface="Calibri"/>
            </a:endParaRPr>
          </a:p>
          <a:p>
            <a:r>
              <a:rPr lang="en-US">
                <a:ea typeface="Calibri"/>
                <a:cs typeface="Calibri"/>
              </a:rPr>
              <a:t>Each convolutional layer had a kernel size of 48 except for one that had a kernel size of 64. All of their activation functions used a </a:t>
            </a:r>
            <a:r>
              <a:rPr lang="en-US" err="1">
                <a:ea typeface="Calibri"/>
                <a:cs typeface="Calibri"/>
              </a:rPr>
              <a:t>ReLU</a:t>
            </a:r>
            <a:r>
              <a:rPr lang="en-US">
                <a:ea typeface="Calibri"/>
                <a:cs typeface="Calibri"/>
              </a:rPr>
              <a:t> activation function to add non-linearity to the calculations. We only had to specify the input shape of the first convolutional layer so that it can take the shape of the images correctly.</a:t>
            </a:r>
          </a:p>
          <a:p>
            <a:endParaRPr lang="en-US">
              <a:ea typeface="Calibri"/>
              <a:cs typeface="Calibri"/>
            </a:endParaRPr>
          </a:p>
          <a:p>
            <a:r>
              <a:rPr lang="en-US">
                <a:ea typeface="Calibri"/>
                <a:cs typeface="Calibri"/>
              </a:rPr>
              <a:t>We used Max Pooling layers with a pool size of (2,2) this layer does not need a activation function since it just computes the max pixel value of neighboring pixels.</a:t>
            </a:r>
          </a:p>
          <a:p>
            <a:endParaRPr lang="en-US">
              <a:ea typeface="Calibri"/>
              <a:cs typeface="Calibri"/>
            </a:endParaRPr>
          </a:p>
          <a:p>
            <a:r>
              <a:rPr lang="en-US">
                <a:ea typeface="Calibri"/>
                <a:cs typeface="Calibri"/>
              </a:rPr>
              <a:t>Our dense layers had a size of 125, 64, and 6 neurons and each had a </a:t>
            </a:r>
            <a:r>
              <a:rPr lang="en-US" err="1">
                <a:ea typeface="Calibri"/>
                <a:cs typeface="Calibri"/>
              </a:rPr>
              <a:t>relu</a:t>
            </a:r>
            <a:r>
              <a:rPr lang="en-US">
                <a:ea typeface="Calibri"/>
                <a:cs typeface="Calibri"/>
              </a:rPr>
              <a:t> action function except for the last dense layer with size of 6, corresponding to the 6 possible types of class images, that had a </a:t>
            </a:r>
            <a:r>
              <a:rPr lang="en-US" err="1">
                <a:ea typeface="Calibri"/>
                <a:cs typeface="Calibri"/>
              </a:rPr>
              <a:t>softmax</a:t>
            </a:r>
            <a:r>
              <a:rPr lang="en-US">
                <a:ea typeface="Calibri"/>
                <a:cs typeface="Calibri"/>
              </a:rPr>
              <a:t> activation function.</a:t>
            </a:r>
          </a:p>
          <a:p>
            <a:endParaRPr lang="en-US">
              <a:ea typeface="Calibri"/>
              <a:cs typeface="Calibri"/>
            </a:endParaRPr>
          </a:p>
          <a:p>
            <a:r>
              <a:rPr lang="en-US">
                <a:ea typeface="Calibri"/>
                <a:cs typeface="Calibri"/>
              </a:rPr>
              <a:t>Recall that the </a:t>
            </a:r>
            <a:r>
              <a:rPr lang="en-US" err="1">
                <a:ea typeface="Calibri"/>
                <a:cs typeface="Calibri"/>
              </a:rPr>
              <a:t>relu</a:t>
            </a:r>
            <a:r>
              <a:rPr lang="en-US">
                <a:ea typeface="Calibri"/>
                <a:cs typeface="Calibri"/>
              </a:rPr>
              <a:t> functions are great for </a:t>
            </a:r>
            <a:r>
              <a:rPr lang="en-US" err="1">
                <a:ea typeface="Calibri"/>
                <a:cs typeface="Calibri"/>
              </a:rPr>
              <a:t>adressing</a:t>
            </a:r>
            <a:r>
              <a:rPr lang="en-US">
                <a:ea typeface="Calibri"/>
                <a:cs typeface="Calibri"/>
              </a:rPr>
              <a:t> the vanishing gradient problem and introduction non-linearity to the model and it is simple and easy to use. While the </a:t>
            </a:r>
            <a:r>
              <a:rPr lang="en-US" err="1">
                <a:ea typeface="Calibri"/>
                <a:cs typeface="Calibri"/>
              </a:rPr>
              <a:t>softmax</a:t>
            </a:r>
            <a:r>
              <a:rPr lang="en-US">
                <a:ea typeface="Calibri"/>
                <a:cs typeface="Calibri"/>
              </a:rPr>
              <a:t> activation function works by creating a probabilistic vector distribution for each neuron in the layer. Which is great for classification problems. </a:t>
            </a:r>
          </a:p>
          <a:p>
            <a:endParaRPr lang="en-US">
              <a:ea typeface="Calibri"/>
              <a:cs typeface="Calibri"/>
            </a:endParaRPr>
          </a:p>
          <a:p>
            <a:r>
              <a:rPr lang="en-US">
                <a:ea typeface="Calibri"/>
                <a:cs typeface="Calibri"/>
              </a:rPr>
              <a:t>Additionally we made use of a dropout layer. This dropout layer </a:t>
            </a:r>
          </a:p>
        </p:txBody>
      </p:sp>
      <p:sp>
        <p:nvSpPr>
          <p:cNvPr id="4" name="Slide Number Placeholder 3"/>
          <p:cNvSpPr>
            <a:spLocks noGrp="1"/>
          </p:cNvSpPr>
          <p:nvPr>
            <p:ph type="sldNum" sz="quarter" idx="5"/>
          </p:nvPr>
        </p:nvSpPr>
        <p:spPr/>
        <p:txBody>
          <a:bodyPr/>
          <a:lstStyle/>
          <a:p>
            <a:fld id="{9D3E7678-A311-431B-B858-39244540C909}" type="slidenum">
              <a:t>8</a:t>
            </a:fld>
            <a:endParaRPr lang="en-US"/>
          </a:p>
        </p:txBody>
      </p:sp>
    </p:spTree>
    <p:extLst>
      <p:ext uri="{BB962C8B-B14F-4D97-AF65-F5344CB8AC3E}">
        <p14:creationId xmlns:p14="http://schemas.microsoft.com/office/powerpoint/2010/main" val="3538735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Josue:</a:t>
            </a:r>
          </a:p>
          <a:p>
            <a:endParaRPr lang="en-US">
              <a:cs typeface="Calibri"/>
            </a:endParaRPr>
          </a:p>
          <a:p>
            <a:r>
              <a:rPr lang="en-US">
                <a:cs typeface="Calibri"/>
              </a:rPr>
              <a:t>We split our results on the best two models. One model using regular 1 channel image data. And the other model using augmented 1 channel data. </a:t>
            </a:r>
          </a:p>
          <a:p>
            <a:endParaRPr lang="en-US">
              <a:cs typeface="Calibri"/>
            </a:endParaRPr>
          </a:p>
          <a:p>
            <a:r>
              <a:rPr lang="en-US">
                <a:cs typeface="Calibri"/>
              </a:rPr>
              <a:t>From our non-augmented data scores, the training accuracy score was of about 91% while our test accuracy score was of 78.84%. And looking at the confusion matrix we could see that the model had trouble in distinguishing glacier images and mountain images. Which often mixed them up</a:t>
            </a:r>
          </a:p>
          <a:p>
            <a:endParaRPr lang="en-US">
              <a:cs typeface="Calibri"/>
            </a:endParaRPr>
          </a:p>
          <a:p>
            <a:r>
              <a:rPr lang="en-US">
                <a:cs typeface="Calibri"/>
              </a:rPr>
              <a:t>For our model that used augmented data the scores were worse, the training score was of about 85% and our test accuracy score was of 68%. And looking at the confusion matrix we could see that the model also had the same trouble in distinguishing glacier images with mountain images.</a:t>
            </a:r>
          </a:p>
          <a:p>
            <a:endParaRPr lang="en-US">
              <a:cs typeface="Calibri"/>
            </a:endParaRPr>
          </a:p>
          <a:p>
            <a:r>
              <a:rPr lang="en-US">
                <a:cs typeface="Calibri"/>
              </a:rPr>
              <a:t>We think this could be because the glaciers can have the same </a:t>
            </a:r>
            <a:r>
              <a:rPr lang="en-US"/>
              <a:t>silhouette </a:t>
            </a:r>
            <a:r>
              <a:rPr lang="en-US">
                <a:cs typeface="Calibri"/>
              </a:rPr>
              <a:t>of a mountain. </a:t>
            </a:r>
          </a:p>
        </p:txBody>
      </p:sp>
      <p:sp>
        <p:nvSpPr>
          <p:cNvPr id="4" name="Slide Number Placeholder 3"/>
          <p:cNvSpPr>
            <a:spLocks noGrp="1"/>
          </p:cNvSpPr>
          <p:nvPr>
            <p:ph type="sldNum" sz="quarter" idx="5"/>
          </p:nvPr>
        </p:nvSpPr>
        <p:spPr/>
        <p:txBody>
          <a:bodyPr/>
          <a:lstStyle/>
          <a:p>
            <a:fld id="{9D3E7678-A311-431B-B858-39244540C909}" type="slidenum">
              <a:rPr lang="en-US"/>
              <a:t>9</a:t>
            </a:fld>
            <a:endParaRPr lang="en-US"/>
          </a:p>
        </p:txBody>
      </p:sp>
    </p:spTree>
    <p:extLst>
      <p:ext uri="{BB962C8B-B14F-4D97-AF65-F5344CB8AC3E}">
        <p14:creationId xmlns:p14="http://schemas.microsoft.com/office/powerpoint/2010/main" val="3477417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Input—</a:t>
            </a:r>
            <a:r>
              <a:rPr lang="en-US" err="1"/>
              <a:t>VGGNet</a:t>
            </a:r>
            <a:r>
              <a:rPr lang="en-US"/>
              <a:t> receives a 224×224 image input. In the ImageNet competition, the model’s creators kept the image input size constant by cropping a 224×224 section from the center of each image.</a:t>
            </a:r>
          </a:p>
          <a:p>
            <a:endParaRPr lang="en-US"/>
          </a:p>
          <a:p>
            <a:r>
              <a:rPr lang="en-US" b="1"/>
              <a:t>Convolutional layers—</a:t>
            </a:r>
            <a:r>
              <a:rPr lang="en-US"/>
              <a:t>the convolutional filters of VGG use the smallest possible receptive field of 3×3. VGG also uses a 1×1 convolution filter as the input’s linear transformation. </a:t>
            </a:r>
            <a:endParaRPr lang="en-US">
              <a:cs typeface="Calibri"/>
            </a:endParaRPr>
          </a:p>
          <a:p>
            <a:endParaRPr lang="en-US">
              <a:cs typeface="Calibri"/>
            </a:endParaRPr>
          </a:p>
          <a:p>
            <a:r>
              <a:rPr lang="en-US" b="1"/>
              <a:t>Hidden layers—</a:t>
            </a:r>
            <a:r>
              <a:rPr lang="en-US"/>
              <a:t>all the VGG network’s hidden layers use </a:t>
            </a:r>
            <a:r>
              <a:rPr lang="en-US" err="1"/>
              <a:t>ReLU</a:t>
            </a:r>
            <a:r>
              <a:rPr lang="en-US"/>
              <a:t>. </a:t>
            </a:r>
          </a:p>
          <a:p>
            <a:endParaRPr lang="en-US" b="1"/>
          </a:p>
          <a:p>
            <a:r>
              <a:rPr lang="en-US" b="1"/>
              <a:t>Pooling layers–</a:t>
            </a:r>
            <a:r>
              <a:rPr lang="en-US"/>
              <a:t>A pooling layer follows several convolutional layers—this helps reduce the dimensionality and the number of parameters of the feature maps created by each convolution step. Pooling is crucial given the rapid growth of the number of available filters from 64 to 128, 256, and eventually 512 in the final layers.</a:t>
            </a:r>
            <a:endParaRPr lang="en-US">
              <a:cs typeface="Calibri"/>
            </a:endParaRPr>
          </a:p>
          <a:p>
            <a:endParaRPr lang="en-US"/>
          </a:p>
          <a:p>
            <a:r>
              <a:rPr lang="en-US" b="1"/>
              <a:t>Fully connected layers—</a:t>
            </a:r>
            <a:r>
              <a:rPr lang="en-US" err="1"/>
              <a:t>VGGNet</a:t>
            </a:r>
            <a:r>
              <a:rPr lang="en-US"/>
              <a:t> includes three fully connected layers. The first two layers each have 4096 channels, and the third layer has 1000 channels, one for every class</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9D3E7678-A311-431B-B858-39244540C909}" type="slidenum">
              <a:rPr lang="en-US"/>
              <a:t>10</a:t>
            </a:fld>
            <a:endParaRPr lang="en-US"/>
          </a:p>
        </p:txBody>
      </p:sp>
    </p:spTree>
    <p:extLst>
      <p:ext uri="{BB962C8B-B14F-4D97-AF65-F5344CB8AC3E}">
        <p14:creationId xmlns:p14="http://schemas.microsoft.com/office/powerpoint/2010/main" val="213307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ea typeface="Calibri"/>
                <a:cs typeface="Calibri"/>
              </a:rPr>
              <a:t>Josh : </a:t>
            </a:r>
            <a:r>
              <a:rPr lang="en-US" err="1"/>
              <a:t>EfficientNet</a:t>
            </a:r>
            <a:r>
              <a:rPr lang="en-US"/>
              <a:t> is a convolutional neural network that is based on the notion of "compound scaling."  Compound scaling is intended to scale three critical aspects of a neural network: breadth, depth, and resolution.</a:t>
            </a:r>
          </a:p>
          <a:p>
            <a:pPr marL="171450" indent="-171450" algn="just">
              <a:buFont typeface="Arial"/>
              <a:buChar char="•"/>
            </a:pPr>
            <a:r>
              <a:rPr lang="en-US"/>
              <a:t>Width: The number of channels in each layer of the neural network is referred to as width scaling. By enlarging the width, the model may capture more complicated patterns and characteristics, resulting in higher accuracy. Reducing the width, on the other hand, results in a more lightweight AI model that is ideal for low-resource applications.</a:t>
            </a:r>
          </a:p>
          <a:p>
            <a:pPr marL="171450" indent="-171450" algn="just">
              <a:buFont typeface="Arial"/>
              <a:buChar char="•"/>
            </a:pPr>
            <a:r>
              <a:rPr lang="en-US"/>
              <a:t>Depth: The total number of layers in the network is referred to as depth scaling. Deeper models can capture more complex data representations, but they also need more computing resources. Shallower models, on the other hand, are more computationally efficient but may forfeit accuracy.</a:t>
            </a:r>
          </a:p>
          <a:p>
            <a:pPr marL="171450" indent="-171450" algn="just">
              <a:buFont typeface="Arial"/>
              <a:buChar char="•"/>
            </a:pPr>
            <a:r>
              <a:rPr lang="en-US"/>
              <a:t>Resolution: Resolution scaling entails changing the size of the input image. Higher-resolution images give more detailed information, which may result in improved performance. They do, however, need larger memory and processing power. Lower-resolution images, on the other hand, use fewer resources but may lose fine-grained information.</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9D3E7678-A311-431B-B858-39244540C909}" type="slidenum">
              <a:rPr lang="en-US"/>
              <a:t>11</a:t>
            </a:fld>
            <a:endParaRPr lang="en-US"/>
          </a:p>
        </p:txBody>
      </p:sp>
    </p:spTree>
    <p:extLst>
      <p:ext uri="{BB962C8B-B14F-4D97-AF65-F5344CB8AC3E}">
        <p14:creationId xmlns:p14="http://schemas.microsoft.com/office/powerpoint/2010/main" val="799486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Josh: Resnet 50 </a:t>
            </a:r>
            <a:r>
              <a:rPr lang="en-US" err="1">
                <a:ea typeface="Calibri"/>
                <a:cs typeface="Calibri"/>
              </a:rPr>
              <a:t>arcetectures</a:t>
            </a:r>
            <a:r>
              <a:rPr lang="en-US">
                <a:ea typeface="Calibri"/>
                <a:cs typeface="Calibri"/>
              </a:rPr>
              <a:t> is one of the most popular used models. This network </a:t>
            </a:r>
            <a:r>
              <a:rPr lang="en-US" err="1">
                <a:ea typeface="Calibri"/>
                <a:cs typeface="Calibri"/>
              </a:rPr>
              <a:t>incoperates</a:t>
            </a:r>
            <a:r>
              <a:rPr lang="en-US">
                <a:ea typeface="Calibri"/>
                <a:cs typeface="Calibri"/>
              </a:rPr>
              <a:t> residual connections all along the network to save training signal from being lost in the model. Because of this we can view layers as residual blocks instead of individual layers. The residual blocks can produce identity function this allows the ability to train really deep networks as the loss function is reduced. </a:t>
            </a:r>
          </a:p>
          <a:p>
            <a:endParaRPr lang="en-US">
              <a:ea typeface="Calibri"/>
              <a:cs typeface="Calibri"/>
            </a:endParaRPr>
          </a:p>
          <a:p>
            <a:r>
              <a:rPr lang="en-US">
                <a:ea typeface="Calibri"/>
                <a:cs typeface="Calibri"/>
              </a:rPr>
              <a:t>In the images the first one is a drawing of a residual block where the input can be produced in the output. In the second picture we can see a serries of these residual blocks. The color change is indicates the image dimensionality reduction which is done every couple of blocks or so. n </a:t>
            </a:r>
          </a:p>
        </p:txBody>
      </p:sp>
      <p:sp>
        <p:nvSpPr>
          <p:cNvPr id="4" name="Slide Number Placeholder 3"/>
          <p:cNvSpPr>
            <a:spLocks noGrp="1"/>
          </p:cNvSpPr>
          <p:nvPr>
            <p:ph type="sldNum" sz="quarter" idx="5"/>
          </p:nvPr>
        </p:nvSpPr>
        <p:spPr/>
        <p:txBody>
          <a:bodyPr/>
          <a:lstStyle/>
          <a:p>
            <a:fld id="{9D3E7678-A311-431B-B858-39244540C909}" type="slidenum">
              <a:rPr lang="en-US"/>
              <a:t>12</a:t>
            </a:fld>
            <a:endParaRPr lang="en-US"/>
          </a:p>
        </p:txBody>
      </p:sp>
    </p:spTree>
    <p:extLst>
      <p:ext uri="{BB962C8B-B14F-4D97-AF65-F5344CB8AC3E}">
        <p14:creationId xmlns:p14="http://schemas.microsoft.com/office/powerpoint/2010/main" val="32037284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Joshua: </a:t>
            </a:r>
          </a:p>
        </p:txBody>
      </p:sp>
      <p:sp>
        <p:nvSpPr>
          <p:cNvPr id="4" name="Slide Number Placeholder 3"/>
          <p:cNvSpPr>
            <a:spLocks noGrp="1"/>
          </p:cNvSpPr>
          <p:nvPr>
            <p:ph type="sldNum" sz="quarter" idx="5"/>
          </p:nvPr>
        </p:nvSpPr>
        <p:spPr/>
        <p:txBody>
          <a:bodyPr/>
          <a:lstStyle/>
          <a:p>
            <a:fld id="{9D3E7678-A311-431B-B858-39244540C909}" type="slidenum">
              <a:t>13</a:t>
            </a:fld>
            <a:endParaRPr lang="en-US"/>
          </a:p>
        </p:txBody>
      </p:sp>
    </p:spTree>
    <p:extLst>
      <p:ext uri="{BB962C8B-B14F-4D97-AF65-F5344CB8AC3E}">
        <p14:creationId xmlns:p14="http://schemas.microsoft.com/office/powerpoint/2010/main" val="741225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Josue: The pros of using Vanilla CNNs were the shorter time it took to train our models. For instance the model that had the best accuracy score only took about 2 hours to train. And that model had a test accuracy score of 78.58%, which while not great this is a relatively decent accuracy nonetheless. Which bring us to the cons of a vanilla CNN. And that is less accurate predictions. This approach requires a large amount of fine tunning and preprocessing to get a decent or good score for large datasets. </a:t>
            </a:r>
          </a:p>
          <a:p>
            <a:endParaRPr lang="en-US">
              <a:ea typeface="Calibri"/>
              <a:cs typeface="Calibri"/>
            </a:endParaRPr>
          </a:p>
          <a:p>
            <a:r>
              <a:rPr lang="en-US">
                <a:ea typeface="Calibri"/>
                <a:cs typeface="Calibri"/>
              </a:rPr>
              <a:t>Joshua: The pros of using Transfer learning based CNNs was higher accuracy, and the ability to test pre made architectures. The con was the run time with so many adjustable variables even Resnet 50 took 3 hours to run 15 Epochs. </a:t>
            </a:r>
          </a:p>
        </p:txBody>
      </p:sp>
      <p:sp>
        <p:nvSpPr>
          <p:cNvPr id="4" name="Slide Number Placeholder 3"/>
          <p:cNvSpPr>
            <a:spLocks noGrp="1"/>
          </p:cNvSpPr>
          <p:nvPr>
            <p:ph type="sldNum" sz="quarter" idx="5"/>
          </p:nvPr>
        </p:nvSpPr>
        <p:spPr/>
        <p:txBody>
          <a:bodyPr/>
          <a:lstStyle/>
          <a:p>
            <a:fld id="{9D3E7678-A311-431B-B858-39244540C909}" type="slidenum">
              <a:t>14</a:t>
            </a:fld>
            <a:endParaRPr lang="en-US"/>
          </a:p>
        </p:txBody>
      </p:sp>
    </p:spTree>
    <p:extLst>
      <p:ext uri="{BB962C8B-B14F-4D97-AF65-F5344CB8AC3E}">
        <p14:creationId xmlns:p14="http://schemas.microsoft.com/office/powerpoint/2010/main" val="3594459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Joshua: In the future we would like to implement our model for consumers to have photos of landscapes pre sorted into folders. To make our model higher accuracy we would like to incorporate an ensemble approach where we can have multiple models vote on top solutions. If one model has  highish probabilities for two categories maybe it could defer to a second model only trained on those two categories which would have a higher accuracy rate for those two landscapes. Ensemble methods seem to produce the highest accuracy as it relies on multiple models. </a:t>
            </a: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9D3E7678-A311-431B-B858-39244540C909}" type="slidenum">
              <a:t>15</a:t>
            </a:fld>
            <a:endParaRPr lang="en-US"/>
          </a:p>
        </p:txBody>
      </p:sp>
    </p:spTree>
    <p:extLst>
      <p:ext uri="{BB962C8B-B14F-4D97-AF65-F5344CB8AC3E}">
        <p14:creationId xmlns:p14="http://schemas.microsoft.com/office/powerpoint/2010/main" val="1943272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12/8/2023</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867082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36524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3086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64103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13423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513092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63354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052575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16701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56358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642673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8917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0319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54664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210186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4094796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44830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12/8/2023</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2256469244"/>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EDAE8-E741-B916-AA2F-1CB4BA374CCB}"/>
              </a:ext>
            </a:extLst>
          </p:cNvPr>
          <p:cNvSpPr>
            <a:spLocks noGrp="1"/>
          </p:cNvSpPr>
          <p:nvPr>
            <p:ph type="ctrTitle"/>
          </p:nvPr>
        </p:nvSpPr>
        <p:spPr/>
        <p:txBody>
          <a:bodyPr/>
          <a:lstStyle/>
          <a:p>
            <a:r>
              <a:rPr lang="en-US">
                <a:cs typeface="Calibri Light"/>
              </a:rPr>
              <a:t>Image Multi-class Classification </a:t>
            </a:r>
            <a:endParaRPr lang="en-US"/>
          </a:p>
        </p:txBody>
      </p:sp>
      <p:sp>
        <p:nvSpPr>
          <p:cNvPr id="3" name="Subtitle 2">
            <a:extLst>
              <a:ext uri="{FF2B5EF4-FFF2-40B4-BE49-F238E27FC236}">
                <a16:creationId xmlns:a16="http://schemas.microsoft.com/office/drawing/2014/main" id="{9B5D77C1-0BB8-FBE6-62FA-406A37E78BA9}"/>
              </a:ext>
            </a:extLst>
          </p:cNvPr>
          <p:cNvSpPr>
            <a:spLocks noGrp="1"/>
          </p:cNvSpPr>
          <p:nvPr>
            <p:ph type="subTitle" idx="1"/>
          </p:nvPr>
        </p:nvSpPr>
        <p:spPr/>
        <p:txBody>
          <a:bodyPr vert="horz" lIns="91440" tIns="45720" rIns="91440" bIns="45720" rtlCol="0" anchor="t">
            <a:normAutofit/>
          </a:bodyPr>
          <a:lstStyle/>
          <a:p>
            <a:r>
              <a:rPr lang="en-US">
                <a:cs typeface="Calibri"/>
              </a:rPr>
              <a:t>Team 10 – Josh Pauly, Josue Perez Gomez</a:t>
            </a:r>
            <a:endParaRPr lang="en-US"/>
          </a:p>
        </p:txBody>
      </p:sp>
    </p:spTree>
    <p:extLst>
      <p:ext uri="{BB962C8B-B14F-4D97-AF65-F5344CB8AC3E}">
        <p14:creationId xmlns:p14="http://schemas.microsoft.com/office/powerpoint/2010/main" val="386456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F3B30-FDF6-D850-09FF-7688C29C49C8}"/>
              </a:ext>
            </a:extLst>
          </p:cNvPr>
          <p:cNvSpPr>
            <a:spLocks noGrp="1"/>
          </p:cNvSpPr>
          <p:nvPr>
            <p:ph type="title"/>
          </p:nvPr>
        </p:nvSpPr>
        <p:spPr>
          <a:xfrm>
            <a:off x="1512886" y="0"/>
            <a:ext cx="10018713" cy="1752599"/>
          </a:xfrm>
        </p:spPr>
        <p:txBody>
          <a:bodyPr/>
          <a:lstStyle/>
          <a:p>
            <a:r>
              <a:rPr lang="en-US">
                <a:cs typeface="Calibri Light"/>
              </a:rPr>
              <a:t>Computer Vision and Image Recognition </a:t>
            </a:r>
            <a:endParaRPr lang="en-US"/>
          </a:p>
        </p:txBody>
      </p:sp>
      <p:sp>
        <p:nvSpPr>
          <p:cNvPr id="3" name="Content Placeholder 2">
            <a:extLst>
              <a:ext uri="{FF2B5EF4-FFF2-40B4-BE49-F238E27FC236}">
                <a16:creationId xmlns:a16="http://schemas.microsoft.com/office/drawing/2014/main" id="{1C658997-1025-B69A-28E9-FE0A45DB632D}"/>
              </a:ext>
            </a:extLst>
          </p:cNvPr>
          <p:cNvSpPr>
            <a:spLocks noGrp="1"/>
          </p:cNvSpPr>
          <p:nvPr>
            <p:ph idx="1"/>
          </p:nvPr>
        </p:nvSpPr>
        <p:spPr>
          <a:xfrm>
            <a:off x="1389060" y="1485899"/>
            <a:ext cx="10018713" cy="4725691"/>
          </a:xfrm>
        </p:spPr>
        <p:txBody>
          <a:bodyPr vert="horz" lIns="0" tIns="45720" rIns="0" bIns="45720" rtlCol="0" anchor="t">
            <a:normAutofit/>
          </a:bodyPr>
          <a:lstStyle/>
          <a:p>
            <a:r>
              <a:rPr lang="en-US">
                <a:cs typeface="Calibri"/>
              </a:rPr>
              <a:t>Computer Vision has been a field of study since the 1960's and in the 1970's foundations on identifying edges, corners, and applying gradients to images developed.</a:t>
            </a:r>
          </a:p>
          <a:p>
            <a:pPr>
              <a:buClr>
                <a:srgbClr val="1287C3"/>
              </a:buClr>
            </a:pPr>
            <a:r>
              <a:rPr lang="en-US">
                <a:cs typeface="Calibri"/>
              </a:rPr>
              <a:t>New applications such as object and face recognition became more popular as newer techniques and algorithms were created. </a:t>
            </a:r>
          </a:p>
          <a:p>
            <a:pPr>
              <a:buClr>
                <a:srgbClr val="1287C3"/>
              </a:buClr>
            </a:pPr>
            <a:r>
              <a:rPr lang="en-US">
                <a:cs typeface="Calibri"/>
              </a:rPr>
              <a:t>Now days computer vision is a very complete subject with many applications and with many tools that make it easy to work images and video.</a:t>
            </a:r>
          </a:p>
        </p:txBody>
      </p:sp>
    </p:spTree>
    <p:extLst>
      <p:ext uri="{BB962C8B-B14F-4D97-AF65-F5344CB8AC3E}">
        <p14:creationId xmlns:p14="http://schemas.microsoft.com/office/powerpoint/2010/main" val="421537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9CE0-2A37-6FBE-E6BD-5DF6B4C59D55}"/>
              </a:ext>
            </a:extLst>
          </p:cNvPr>
          <p:cNvSpPr>
            <a:spLocks noGrp="1"/>
          </p:cNvSpPr>
          <p:nvPr>
            <p:ph type="title"/>
          </p:nvPr>
        </p:nvSpPr>
        <p:spPr>
          <a:xfrm>
            <a:off x="1484311" y="0"/>
            <a:ext cx="10018713" cy="1752599"/>
          </a:xfrm>
        </p:spPr>
        <p:txBody>
          <a:bodyPr/>
          <a:lstStyle/>
          <a:p>
            <a:r>
              <a:rPr lang="en-US">
                <a:cs typeface="Calibri Light"/>
              </a:rPr>
              <a:t>The Intel Image Recognition Competition Data Set</a:t>
            </a:r>
          </a:p>
        </p:txBody>
      </p:sp>
      <p:sp>
        <p:nvSpPr>
          <p:cNvPr id="3" name="Content Placeholder 2">
            <a:extLst>
              <a:ext uri="{FF2B5EF4-FFF2-40B4-BE49-F238E27FC236}">
                <a16:creationId xmlns:a16="http://schemas.microsoft.com/office/drawing/2014/main" id="{20246B47-9D40-781C-008D-BF52622AFAB5}"/>
              </a:ext>
            </a:extLst>
          </p:cNvPr>
          <p:cNvSpPr>
            <a:spLocks noGrp="1"/>
          </p:cNvSpPr>
          <p:nvPr>
            <p:ph idx="1"/>
          </p:nvPr>
        </p:nvSpPr>
        <p:spPr>
          <a:xfrm>
            <a:off x="1484310" y="1714499"/>
            <a:ext cx="10018713" cy="3124201"/>
          </a:xfrm>
        </p:spPr>
        <p:txBody>
          <a:bodyPr/>
          <a:lstStyle/>
          <a:p>
            <a:pPr>
              <a:buClr>
                <a:srgbClr val="1287C3"/>
              </a:buClr>
            </a:pPr>
            <a:endParaRPr lang="en-US"/>
          </a:p>
          <a:p>
            <a:pPr>
              <a:buClr>
                <a:srgbClr val="1287C3"/>
              </a:buClr>
            </a:pPr>
            <a:endParaRPr lang="en-US"/>
          </a:p>
          <a:p>
            <a:pPr>
              <a:buClr>
                <a:srgbClr val="1287C3"/>
              </a:buClr>
            </a:pPr>
            <a:endParaRPr lang="en-US"/>
          </a:p>
          <a:p>
            <a:pPr>
              <a:buClr>
                <a:srgbClr val="1287C3"/>
              </a:buClr>
            </a:pPr>
            <a:r>
              <a:rPr lang="en-US"/>
              <a:t>In 2018 there was an Intel Image Recognition challenge. </a:t>
            </a:r>
          </a:p>
          <a:p>
            <a:pPr>
              <a:buClr>
                <a:srgbClr val="1287C3"/>
              </a:buClr>
            </a:pPr>
            <a:r>
              <a:rPr lang="en-US"/>
              <a:t>Task was to designing a solution to identify the classes an image belonged to.</a:t>
            </a:r>
          </a:p>
          <a:p>
            <a:pPr>
              <a:buClr>
                <a:srgbClr val="1287C3"/>
              </a:buClr>
            </a:pPr>
            <a:endParaRPr lang="en-US"/>
          </a:p>
          <a:p>
            <a:pPr>
              <a:buClr>
                <a:srgbClr val="1287C3"/>
              </a:buClr>
            </a:pPr>
            <a:endParaRPr lang="en-US"/>
          </a:p>
          <a:p>
            <a:pPr>
              <a:buClr>
                <a:srgbClr val="1287C3"/>
              </a:buClr>
            </a:pPr>
            <a:endParaRPr lang="en-US"/>
          </a:p>
          <a:p>
            <a:pPr>
              <a:buClr>
                <a:srgbClr val="1287C3"/>
              </a:buClr>
            </a:pPr>
            <a:endParaRPr lang="en-US"/>
          </a:p>
          <a:p>
            <a:pPr>
              <a:buClr>
                <a:srgbClr val="1287C3"/>
              </a:buClr>
            </a:pPr>
            <a:endParaRPr lang="en-US"/>
          </a:p>
        </p:txBody>
      </p:sp>
      <p:pic>
        <p:nvPicPr>
          <p:cNvPr id="4" name="Picture 3" descr="A building with columns and a clock tower&#10;&#10;Description automatically generated">
            <a:extLst>
              <a:ext uri="{FF2B5EF4-FFF2-40B4-BE49-F238E27FC236}">
                <a16:creationId xmlns:a16="http://schemas.microsoft.com/office/drawing/2014/main" id="{70EDEB2B-FBAD-DF02-FBF0-66208A042F94}"/>
              </a:ext>
            </a:extLst>
          </p:cNvPr>
          <p:cNvPicPr>
            <a:picLocks noChangeAspect="1"/>
          </p:cNvPicPr>
          <p:nvPr/>
        </p:nvPicPr>
        <p:blipFill>
          <a:blip r:embed="rId3"/>
          <a:stretch>
            <a:fillRect/>
          </a:stretch>
        </p:blipFill>
        <p:spPr>
          <a:xfrm>
            <a:off x="1479096" y="3624262"/>
            <a:ext cx="1352550" cy="1481817"/>
          </a:xfrm>
          <a:prstGeom prst="rect">
            <a:avLst/>
          </a:prstGeom>
        </p:spPr>
      </p:pic>
      <p:pic>
        <p:nvPicPr>
          <p:cNvPr id="5" name="Picture 4">
            <a:extLst>
              <a:ext uri="{FF2B5EF4-FFF2-40B4-BE49-F238E27FC236}">
                <a16:creationId xmlns:a16="http://schemas.microsoft.com/office/drawing/2014/main" id="{B8AC1E99-DE23-A77F-A1EA-AF078FEC51C6}"/>
              </a:ext>
            </a:extLst>
          </p:cNvPr>
          <p:cNvPicPr>
            <a:picLocks noChangeAspect="1"/>
          </p:cNvPicPr>
          <p:nvPr/>
        </p:nvPicPr>
        <p:blipFill>
          <a:blip r:embed="rId4"/>
          <a:stretch>
            <a:fillRect/>
          </a:stretch>
        </p:blipFill>
        <p:spPr>
          <a:xfrm>
            <a:off x="2731633" y="3629026"/>
            <a:ext cx="1242332" cy="1472292"/>
          </a:xfrm>
          <a:prstGeom prst="rect">
            <a:avLst/>
          </a:prstGeom>
        </p:spPr>
      </p:pic>
      <p:pic>
        <p:nvPicPr>
          <p:cNvPr id="6" name="Picture 5" descr="A screenshot of a phone&#10;&#10;Description automatically generated">
            <a:extLst>
              <a:ext uri="{FF2B5EF4-FFF2-40B4-BE49-F238E27FC236}">
                <a16:creationId xmlns:a16="http://schemas.microsoft.com/office/drawing/2014/main" id="{43BB26F7-0E77-63CF-82E0-CE4D7864BAA9}"/>
              </a:ext>
            </a:extLst>
          </p:cNvPr>
          <p:cNvPicPr>
            <a:picLocks noChangeAspect="1"/>
          </p:cNvPicPr>
          <p:nvPr/>
        </p:nvPicPr>
        <p:blipFill>
          <a:blip r:embed="rId5"/>
          <a:stretch>
            <a:fillRect/>
          </a:stretch>
        </p:blipFill>
        <p:spPr>
          <a:xfrm>
            <a:off x="3972605" y="3626304"/>
            <a:ext cx="1329417" cy="1477735"/>
          </a:xfrm>
          <a:prstGeom prst="rect">
            <a:avLst/>
          </a:prstGeom>
        </p:spPr>
      </p:pic>
      <p:pic>
        <p:nvPicPr>
          <p:cNvPr id="7" name="Picture 6" descr="A screenshot of a phone&#10;&#10;Description automatically generated">
            <a:extLst>
              <a:ext uri="{FF2B5EF4-FFF2-40B4-BE49-F238E27FC236}">
                <a16:creationId xmlns:a16="http://schemas.microsoft.com/office/drawing/2014/main" id="{CBFEC076-C873-BA0B-96A3-B57258CFB6E2}"/>
              </a:ext>
            </a:extLst>
          </p:cNvPr>
          <p:cNvPicPr>
            <a:picLocks noChangeAspect="1"/>
          </p:cNvPicPr>
          <p:nvPr/>
        </p:nvPicPr>
        <p:blipFill>
          <a:blip r:embed="rId6"/>
          <a:stretch>
            <a:fillRect/>
          </a:stretch>
        </p:blipFill>
        <p:spPr>
          <a:xfrm>
            <a:off x="5305425" y="3622902"/>
            <a:ext cx="1265464" cy="1484539"/>
          </a:xfrm>
          <a:prstGeom prst="rect">
            <a:avLst/>
          </a:prstGeom>
        </p:spPr>
      </p:pic>
      <p:pic>
        <p:nvPicPr>
          <p:cNvPr id="8" name="Picture 7" descr="A screenshot of a phone&#10;&#10;Description automatically generated">
            <a:extLst>
              <a:ext uri="{FF2B5EF4-FFF2-40B4-BE49-F238E27FC236}">
                <a16:creationId xmlns:a16="http://schemas.microsoft.com/office/drawing/2014/main" id="{8A70C3A9-8079-2E9B-4D19-9A905F9B3EB1}"/>
              </a:ext>
            </a:extLst>
          </p:cNvPr>
          <p:cNvPicPr>
            <a:picLocks noChangeAspect="1"/>
          </p:cNvPicPr>
          <p:nvPr/>
        </p:nvPicPr>
        <p:blipFill>
          <a:blip r:embed="rId7"/>
          <a:stretch>
            <a:fillRect/>
          </a:stretch>
        </p:blipFill>
        <p:spPr>
          <a:xfrm>
            <a:off x="6610350" y="3625624"/>
            <a:ext cx="1202871" cy="1479096"/>
          </a:xfrm>
          <a:prstGeom prst="rect">
            <a:avLst/>
          </a:prstGeom>
        </p:spPr>
      </p:pic>
      <p:pic>
        <p:nvPicPr>
          <p:cNvPr id="9" name="Picture 8" descr="A screenshot of a phone&#10;&#10;Description automatically generated">
            <a:extLst>
              <a:ext uri="{FF2B5EF4-FFF2-40B4-BE49-F238E27FC236}">
                <a16:creationId xmlns:a16="http://schemas.microsoft.com/office/drawing/2014/main" id="{55B3C009-A272-486E-5D6A-14F6DEFCAE83}"/>
              </a:ext>
            </a:extLst>
          </p:cNvPr>
          <p:cNvPicPr>
            <a:picLocks noChangeAspect="1"/>
          </p:cNvPicPr>
          <p:nvPr/>
        </p:nvPicPr>
        <p:blipFill>
          <a:blip r:embed="rId8"/>
          <a:stretch>
            <a:fillRect/>
          </a:stretch>
        </p:blipFill>
        <p:spPr>
          <a:xfrm>
            <a:off x="7820025" y="3631067"/>
            <a:ext cx="1309007" cy="1489982"/>
          </a:xfrm>
          <a:prstGeom prst="rect">
            <a:avLst/>
          </a:prstGeom>
        </p:spPr>
      </p:pic>
    </p:spTree>
    <p:extLst>
      <p:ext uri="{BB962C8B-B14F-4D97-AF65-F5344CB8AC3E}">
        <p14:creationId xmlns:p14="http://schemas.microsoft.com/office/powerpoint/2010/main" val="758658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1CF62-3780-1FF1-6DC8-FB6EA44139FE}"/>
              </a:ext>
            </a:extLst>
          </p:cNvPr>
          <p:cNvSpPr>
            <a:spLocks noGrp="1"/>
          </p:cNvSpPr>
          <p:nvPr>
            <p:ph type="title"/>
          </p:nvPr>
        </p:nvSpPr>
        <p:spPr>
          <a:xfrm>
            <a:off x="1455736" y="0"/>
            <a:ext cx="10018713" cy="1752599"/>
          </a:xfrm>
        </p:spPr>
        <p:txBody>
          <a:bodyPr/>
          <a:lstStyle/>
          <a:p>
            <a:r>
              <a:rPr lang="en-US">
                <a:cs typeface="Calibri Light"/>
              </a:rPr>
              <a:t>Proposed Ideas and Challenges</a:t>
            </a:r>
            <a:endParaRPr lang="en-US"/>
          </a:p>
        </p:txBody>
      </p:sp>
      <p:sp>
        <p:nvSpPr>
          <p:cNvPr id="3" name="Content Placeholder 2">
            <a:extLst>
              <a:ext uri="{FF2B5EF4-FFF2-40B4-BE49-F238E27FC236}">
                <a16:creationId xmlns:a16="http://schemas.microsoft.com/office/drawing/2014/main" id="{5A99FC0F-EE16-4FDA-0E36-D84536F8C8BC}"/>
              </a:ext>
            </a:extLst>
          </p:cNvPr>
          <p:cNvSpPr>
            <a:spLocks noGrp="1"/>
          </p:cNvSpPr>
          <p:nvPr>
            <p:ph idx="1"/>
          </p:nvPr>
        </p:nvSpPr>
        <p:spPr>
          <a:xfrm>
            <a:off x="1331910" y="1476374"/>
            <a:ext cx="10018713" cy="3124201"/>
          </a:xfrm>
        </p:spPr>
        <p:txBody>
          <a:bodyPr>
            <a:normAutofit fontScale="70000" lnSpcReduction="20000"/>
          </a:bodyPr>
          <a:lstStyle/>
          <a:p>
            <a:pPr>
              <a:buClr>
                <a:srgbClr val="1287C3"/>
              </a:buClr>
            </a:pPr>
            <a:endParaRPr lang="en-US"/>
          </a:p>
          <a:p>
            <a:pPr>
              <a:buClr>
                <a:srgbClr val="1287C3"/>
              </a:buClr>
            </a:pPr>
            <a:endParaRPr lang="en-US"/>
          </a:p>
          <a:p>
            <a:pPr>
              <a:buClr>
                <a:srgbClr val="1287C3"/>
              </a:buClr>
            </a:pPr>
            <a:endParaRPr lang="en-US"/>
          </a:p>
          <a:p>
            <a:pPr>
              <a:buClr>
                <a:srgbClr val="1287C3"/>
              </a:buClr>
            </a:pPr>
            <a:r>
              <a:rPr lang="en-US"/>
              <a:t>Our idea was to make use of Deep Learning based models. </a:t>
            </a:r>
          </a:p>
          <a:p>
            <a:pPr lvl="1">
              <a:buClr>
                <a:srgbClr val="1287C3"/>
              </a:buClr>
              <a:buFont typeface="Courier New"/>
              <a:buChar char="o"/>
            </a:pPr>
            <a:r>
              <a:rPr lang="en-US"/>
              <a:t>Identify pros and cons of transfer learning models vs traditional CNNs</a:t>
            </a:r>
          </a:p>
          <a:p>
            <a:pPr>
              <a:buClr>
                <a:srgbClr val="1287C3"/>
              </a:buClr>
            </a:pPr>
            <a:r>
              <a:rPr lang="en-US"/>
              <a:t>Some of the challenges included: Large and diverse dataset</a:t>
            </a:r>
          </a:p>
          <a:p>
            <a:pPr lvl="1">
              <a:buClr>
                <a:srgbClr val="1287C3"/>
              </a:buClr>
              <a:buFont typeface="Courier New"/>
              <a:buChar char="o"/>
            </a:pPr>
            <a:r>
              <a:rPr lang="en-US"/>
              <a:t>With large data sets it increases the run time of training the models. </a:t>
            </a:r>
          </a:p>
          <a:p>
            <a:pPr lvl="1">
              <a:buClr>
                <a:srgbClr val="1287C3"/>
              </a:buClr>
              <a:buFont typeface="Courier New"/>
              <a:buChar char="o"/>
            </a:pPr>
            <a:r>
              <a:rPr lang="en-US"/>
              <a:t>Having 6 categories could mean that when choosing a category for the image the model may not have a majority probability for one category for an image. </a:t>
            </a:r>
          </a:p>
          <a:p>
            <a:pPr>
              <a:buClr>
                <a:srgbClr val="1287C3"/>
              </a:buClr>
            </a:pPr>
            <a:r>
              <a:rPr lang="en-US"/>
              <a:t>Help classify images in the future what the landscape the image is. </a:t>
            </a:r>
          </a:p>
          <a:p>
            <a:pPr>
              <a:buClr>
                <a:srgbClr val="1287C3"/>
              </a:buClr>
            </a:pPr>
            <a:endParaRPr lang="en-US"/>
          </a:p>
          <a:p>
            <a:pPr>
              <a:buClr>
                <a:srgbClr val="1287C3"/>
              </a:buClr>
            </a:pPr>
            <a:endParaRPr lang="en-US"/>
          </a:p>
          <a:p>
            <a:pPr>
              <a:buClr>
                <a:srgbClr val="1287C3"/>
              </a:buClr>
            </a:pPr>
            <a:endParaRPr lang="en-US"/>
          </a:p>
          <a:p>
            <a:pPr>
              <a:buClr>
                <a:srgbClr val="1287C3"/>
              </a:buClr>
            </a:pPr>
            <a:endParaRPr lang="en-US"/>
          </a:p>
          <a:p>
            <a:pPr>
              <a:buClr>
                <a:srgbClr val="1287C3"/>
              </a:buClr>
            </a:pPr>
            <a:endParaRPr lang="en-US"/>
          </a:p>
        </p:txBody>
      </p:sp>
    </p:spTree>
    <p:extLst>
      <p:ext uri="{BB962C8B-B14F-4D97-AF65-F5344CB8AC3E}">
        <p14:creationId xmlns:p14="http://schemas.microsoft.com/office/powerpoint/2010/main" val="2780517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8F214-43D2-1926-98FD-C7A20D4AFCF4}"/>
              </a:ext>
            </a:extLst>
          </p:cNvPr>
          <p:cNvSpPr>
            <a:spLocks noGrp="1"/>
          </p:cNvSpPr>
          <p:nvPr>
            <p:ph type="title"/>
          </p:nvPr>
        </p:nvSpPr>
        <p:spPr>
          <a:xfrm>
            <a:off x="1455736" y="0"/>
            <a:ext cx="10018713" cy="1752599"/>
          </a:xfrm>
        </p:spPr>
        <p:txBody>
          <a:bodyPr/>
          <a:lstStyle/>
          <a:p>
            <a:r>
              <a:rPr lang="en-US">
                <a:cs typeface="Calibri Light"/>
              </a:rPr>
              <a:t>Data Exploration and Analysis</a:t>
            </a:r>
            <a:endParaRPr lang="en-US"/>
          </a:p>
        </p:txBody>
      </p:sp>
      <p:sp>
        <p:nvSpPr>
          <p:cNvPr id="3" name="Content Placeholder 2">
            <a:extLst>
              <a:ext uri="{FF2B5EF4-FFF2-40B4-BE49-F238E27FC236}">
                <a16:creationId xmlns:a16="http://schemas.microsoft.com/office/drawing/2014/main" id="{C97DBDB9-D2E9-28F8-12D2-8B1619A673A8}"/>
              </a:ext>
            </a:extLst>
          </p:cNvPr>
          <p:cNvSpPr>
            <a:spLocks noGrp="1"/>
          </p:cNvSpPr>
          <p:nvPr>
            <p:ph idx="1"/>
          </p:nvPr>
        </p:nvSpPr>
        <p:spPr>
          <a:xfrm>
            <a:off x="1946515" y="1482186"/>
            <a:ext cx="10018713" cy="2594676"/>
          </a:xfrm>
        </p:spPr>
        <p:txBody>
          <a:bodyPr>
            <a:normAutofit fontScale="70000" lnSpcReduction="20000"/>
          </a:bodyPr>
          <a:lstStyle/>
          <a:p>
            <a:pPr>
              <a:buClr>
                <a:srgbClr val="1287C3"/>
              </a:buClr>
            </a:pPr>
            <a:r>
              <a:rPr lang="en-US"/>
              <a:t>Our data exploration included: Image dimension analysis, correlation analysis, common color shade analysis, frequency analysis.</a:t>
            </a:r>
          </a:p>
          <a:p>
            <a:pPr>
              <a:buClr>
                <a:srgbClr val="1287C3"/>
              </a:buClr>
            </a:pPr>
            <a:endParaRPr lang="en-US"/>
          </a:p>
          <a:p>
            <a:pPr>
              <a:buClr>
                <a:srgbClr val="1287C3"/>
              </a:buClr>
            </a:pPr>
            <a:r>
              <a:rPr lang="en-US"/>
              <a:t>Computed a correlation matrix on statistical values for each class.</a:t>
            </a:r>
          </a:p>
          <a:p>
            <a:pPr>
              <a:buClr>
                <a:srgbClr val="1287C3"/>
              </a:buClr>
            </a:pPr>
            <a:endParaRPr lang="en-US"/>
          </a:p>
          <a:p>
            <a:pPr>
              <a:buClr>
                <a:srgbClr val="1287C3"/>
              </a:buClr>
            </a:pPr>
            <a:r>
              <a:rPr lang="en-US"/>
              <a:t>Computed the average color shades for each class of images.</a:t>
            </a:r>
          </a:p>
          <a:p>
            <a:pPr>
              <a:buClr>
                <a:srgbClr val="1287C3"/>
              </a:buClr>
            </a:pPr>
            <a:endParaRPr lang="en-US"/>
          </a:p>
          <a:p>
            <a:pPr>
              <a:buClr>
                <a:srgbClr val="1287C3"/>
              </a:buClr>
            </a:pPr>
            <a:r>
              <a:rPr lang="en-US"/>
              <a:t>Computed the frequency of images for each class. And plotted dimension frequency</a:t>
            </a:r>
          </a:p>
        </p:txBody>
      </p:sp>
      <p:pic>
        <p:nvPicPr>
          <p:cNvPr id="4" name="Picture 3" descr="A building with many windows&#10;&#10;Description automatically generated">
            <a:extLst>
              <a:ext uri="{FF2B5EF4-FFF2-40B4-BE49-F238E27FC236}">
                <a16:creationId xmlns:a16="http://schemas.microsoft.com/office/drawing/2014/main" id="{25C7E892-E23D-B0BD-E731-4F70BDAB5E68}"/>
              </a:ext>
            </a:extLst>
          </p:cNvPr>
          <p:cNvPicPr>
            <a:picLocks noChangeAspect="1"/>
          </p:cNvPicPr>
          <p:nvPr/>
        </p:nvPicPr>
        <p:blipFill>
          <a:blip r:embed="rId3"/>
          <a:stretch>
            <a:fillRect/>
          </a:stretch>
        </p:blipFill>
        <p:spPr>
          <a:xfrm>
            <a:off x="-888" y="2691216"/>
            <a:ext cx="1990725" cy="2095500"/>
          </a:xfrm>
          <a:prstGeom prst="rect">
            <a:avLst/>
          </a:prstGeom>
          <a:ln>
            <a:noFill/>
          </a:ln>
          <a:effectLst>
            <a:outerShdw blurRad="292100" dist="139700" dir="2700000" algn="tl" rotWithShape="0">
              <a:srgbClr val="333333">
                <a:alpha val="65000"/>
              </a:srgbClr>
            </a:outerShdw>
          </a:effectLst>
        </p:spPr>
      </p:pic>
      <p:pic>
        <p:nvPicPr>
          <p:cNvPr id="5" name="Picture 4" descr="A colorful squares with black and yellow squares&#10;&#10;Description automatically generated">
            <a:extLst>
              <a:ext uri="{FF2B5EF4-FFF2-40B4-BE49-F238E27FC236}">
                <a16:creationId xmlns:a16="http://schemas.microsoft.com/office/drawing/2014/main" id="{A0321C4C-383B-F9A2-F906-95A6F58C3BD7}"/>
              </a:ext>
            </a:extLst>
          </p:cNvPr>
          <p:cNvPicPr>
            <a:picLocks noChangeAspect="1"/>
          </p:cNvPicPr>
          <p:nvPr/>
        </p:nvPicPr>
        <p:blipFill>
          <a:blip r:embed="rId4"/>
          <a:stretch>
            <a:fillRect/>
          </a:stretch>
        </p:blipFill>
        <p:spPr>
          <a:xfrm>
            <a:off x="2309248" y="4178002"/>
            <a:ext cx="2743200" cy="2402404"/>
          </a:xfrm>
          <a:prstGeom prst="rect">
            <a:avLst/>
          </a:prstGeom>
          <a:ln>
            <a:noFill/>
          </a:ln>
          <a:effectLst>
            <a:outerShdw blurRad="292100" dist="139700" dir="2700000" algn="tl" rotWithShape="0">
              <a:srgbClr val="333333">
                <a:alpha val="65000"/>
              </a:srgbClr>
            </a:outerShdw>
          </a:effectLst>
        </p:spPr>
      </p:pic>
      <p:pic>
        <p:nvPicPr>
          <p:cNvPr id="6" name="Picture 5" descr="A graph of green shades&#10;&#10;Description automatically generated">
            <a:extLst>
              <a:ext uri="{FF2B5EF4-FFF2-40B4-BE49-F238E27FC236}">
                <a16:creationId xmlns:a16="http://schemas.microsoft.com/office/drawing/2014/main" id="{BD5397A7-3D42-145F-0556-EDFE0EAB2281}"/>
              </a:ext>
            </a:extLst>
          </p:cNvPr>
          <p:cNvPicPr>
            <a:picLocks noChangeAspect="1"/>
          </p:cNvPicPr>
          <p:nvPr/>
        </p:nvPicPr>
        <p:blipFill>
          <a:blip r:embed="rId5"/>
          <a:stretch>
            <a:fillRect/>
          </a:stretch>
        </p:blipFill>
        <p:spPr>
          <a:xfrm>
            <a:off x="5202264" y="4182589"/>
            <a:ext cx="2743200" cy="1101705"/>
          </a:xfrm>
          <a:prstGeom prst="rect">
            <a:avLst/>
          </a:prstGeom>
          <a:ln>
            <a:noFill/>
          </a:ln>
          <a:effectLst>
            <a:outerShdw blurRad="292100" dist="139700" dir="2700000" algn="tl" rotWithShape="0">
              <a:srgbClr val="333333">
                <a:alpha val="65000"/>
              </a:srgbClr>
            </a:outerShdw>
          </a:effectLst>
        </p:spPr>
      </p:pic>
      <p:pic>
        <p:nvPicPr>
          <p:cNvPr id="7" name="Picture 6" descr="A graph of shades in the glacier&#10;&#10;Description automatically generated">
            <a:extLst>
              <a:ext uri="{FF2B5EF4-FFF2-40B4-BE49-F238E27FC236}">
                <a16:creationId xmlns:a16="http://schemas.microsoft.com/office/drawing/2014/main" id="{CAAC137A-BE97-F392-2ED0-13063506B906}"/>
              </a:ext>
            </a:extLst>
          </p:cNvPr>
          <p:cNvPicPr>
            <a:picLocks noChangeAspect="1"/>
          </p:cNvPicPr>
          <p:nvPr/>
        </p:nvPicPr>
        <p:blipFill>
          <a:blip r:embed="rId6"/>
          <a:stretch>
            <a:fillRect/>
          </a:stretch>
        </p:blipFill>
        <p:spPr>
          <a:xfrm>
            <a:off x="5202264" y="5483600"/>
            <a:ext cx="2743200" cy="1160223"/>
          </a:xfrm>
          <a:prstGeom prst="rect">
            <a:avLst/>
          </a:prstGeom>
          <a:ln>
            <a:noFill/>
          </a:ln>
          <a:effectLst>
            <a:outerShdw blurRad="292100" dist="139700" dir="2700000" algn="tl" rotWithShape="0">
              <a:srgbClr val="333333">
                <a:alpha val="65000"/>
              </a:srgbClr>
            </a:outerShdw>
          </a:effectLst>
        </p:spPr>
      </p:pic>
      <p:pic>
        <p:nvPicPr>
          <p:cNvPr id="8" name="Picture 7" descr="A diagram of a number of classes&#10;&#10;Description automatically generated">
            <a:extLst>
              <a:ext uri="{FF2B5EF4-FFF2-40B4-BE49-F238E27FC236}">
                <a16:creationId xmlns:a16="http://schemas.microsoft.com/office/drawing/2014/main" id="{F5784EFA-1C75-01FE-D0E3-B0D7ADCACADE}"/>
              </a:ext>
            </a:extLst>
          </p:cNvPr>
          <p:cNvPicPr>
            <a:picLocks noChangeAspect="1"/>
          </p:cNvPicPr>
          <p:nvPr/>
        </p:nvPicPr>
        <p:blipFill>
          <a:blip r:embed="rId7"/>
          <a:stretch>
            <a:fillRect/>
          </a:stretch>
        </p:blipFill>
        <p:spPr>
          <a:xfrm>
            <a:off x="8301925" y="4185497"/>
            <a:ext cx="2743200" cy="2464904"/>
          </a:xfrm>
          <a:prstGeom prst="rect">
            <a:avLst/>
          </a:prstGeom>
          <a:ln>
            <a:noFill/>
          </a:ln>
          <a:effectLst>
            <a:outerShdw blurRad="292100" dist="139700" dir="2700000" algn="tl" rotWithShape="0">
              <a:srgbClr val="333333">
                <a:alpha val="65000"/>
              </a:srgbClr>
            </a:outerShdw>
          </a:effectLst>
        </p:spPr>
      </p:pic>
      <p:pic>
        <p:nvPicPr>
          <p:cNvPr id="9" name="Picture 8" descr="A white rectangular object with black text&#10;&#10;Description automatically generated">
            <a:extLst>
              <a:ext uri="{FF2B5EF4-FFF2-40B4-BE49-F238E27FC236}">
                <a16:creationId xmlns:a16="http://schemas.microsoft.com/office/drawing/2014/main" id="{3AC50965-CFBA-3545-13D3-274F732A105F}"/>
              </a:ext>
            </a:extLst>
          </p:cNvPr>
          <p:cNvPicPr>
            <a:picLocks noChangeAspect="1"/>
          </p:cNvPicPr>
          <p:nvPr/>
        </p:nvPicPr>
        <p:blipFill>
          <a:blip r:embed="rId8"/>
          <a:stretch>
            <a:fillRect/>
          </a:stretch>
        </p:blipFill>
        <p:spPr>
          <a:xfrm>
            <a:off x="8896027" y="1986962"/>
            <a:ext cx="2743200" cy="16700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59193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F7038-EE04-B070-6667-B0821B0C62DA}"/>
              </a:ext>
            </a:extLst>
          </p:cNvPr>
          <p:cNvSpPr>
            <a:spLocks noGrp="1"/>
          </p:cNvSpPr>
          <p:nvPr>
            <p:ph type="title"/>
          </p:nvPr>
        </p:nvSpPr>
        <p:spPr>
          <a:xfrm>
            <a:off x="1531936" y="-4762"/>
            <a:ext cx="10018713" cy="1752599"/>
          </a:xfrm>
        </p:spPr>
        <p:txBody>
          <a:bodyPr/>
          <a:lstStyle/>
          <a:p>
            <a:r>
              <a:rPr lang="en-US"/>
              <a:t>Data Manipulation</a:t>
            </a:r>
          </a:p>
        </p:txBody>
      </p:sp>
      <p:sp>
        <p:nvSpPr>
          <p:cNvPr id="3" name="Content Placeholder 2">
            <a:extLst>
              <a:ext uri="{FF2B5EF4-FFF2-40B4-BE49-F238E27FC236}">
                <a16:creationId xmlns:a16="http://schemas.microsoft.com/office/drawing/2014/main" id="{CBC05D58-631C-D9ED-CD36-54252A5D2A2D}"/>
              </a:ext>
            </a:extLst>
          </p:cNvPr>
          <p:cNvSpPr>
            <a:spLocks noGrp="1"/>
          </p:cNvSpPr>
          <p:nvPr>
            <p:ph idx="1"/>
          </p:nvPr>
        </p:nvSpPr>
        <p:spPr>
          <a:xfrm>
            <a:off x="1377154" y="1750217"/>
            <a:ext cx="10018713" cy="4302920"/>
          </a:xfrm>
        </p:spPr>
        <p:txBody>
          <a:bodyPr>
            <a:normAutofit/>
          </a:bodyPr>
          <a:lstStyle/>
          <a:p>
            <a:r>
              <a:rPr lang="en-US"/>
              <a:t>Dimensional reduction from 3 channels to 1 channel</a:t>
            </a:r>
          </a:p>
          <a:p>
            <a:pPr>
              <a:buClr>
                <a:srgbClr val="1287C3"/>
              </a:buClr>
            </a:pPr>
            <a:endParaRPr lang="en-US"/>
          </a:p>
          <a:p>
            <a:pPr>
              <a:buClr>
                <a:srgbClr val="1287C3"/>
              </a:buClr>
            </a:pPr>
            <a:endParaRPr lang="en-US"/>
          </a:p>
          <a:p>
            <a:pPr>
              <a:buClr>
                <a:srgbClr val="1287C3"/>
              </a:buClr>
            </a:pPr>
            <a:r>
              <a:rPr lang="en-US"/>
              <a:t>Data augmentation</a:t>
            </a:r>
          </a:p>
          <a:p>
            <a:pPr>
              <a:buClr>
                <a:srgbClr val="1287C3"/>
              </a:buClr>
            </a:pPr>
            <a:endParaRPr lang="en-US"/>
          </a:p>
          <a:p>
            <a:pPr>
              <a:buClr>
                <a:srgbClr val="1287C3"/>
              </a:buClr>
            </a:pPr>
            <a:endParaRPr lang="en-US"/>
          </a:p>
          <a:p>
            <a:pPr>
              <a:buClr>
                <a:srgbClr val="1287C3"/>
              </a:buClr>
            </a:pPr>
            <a:r>
              <a:rPr lang="en-US"/>
              <a:t>Image resizing </a:t>
            </a:r>
          </a:p>
          <a:p>
            <a:pPr>
              <a:buClr>
                <a:srgbClr val="1287C3"/>
              </a:buClr>
            </a:pPr>
            <a:endParaRPr lang="en-US"/>
          </a:p>
        </p:txBody>
      </p:sp>
      <p:pic>
        <p:nvPicPr>
          <p:cNvPr id="4" name="Picture 3" descr="A comparison of a city&#10;&#10;Description automatically generated">
            <a:extLst>
              <a:ext uri="{FF2B5EF4-FFF2-40B4-BE49-F238E27FC236}">
                <a16:creationId xmlns:a16="http://schemas.microsoft.com/office/drawing/2014/main" id="{69C9CF04-00A7-C95F-1E01-3766CDC65426}"/>
              </a:ext>
            </a:extLst>
          </p:cNvPr>
          <p:cNvPicPr>
            <a:picLocks noChangeAspect="1"/>
          </p:cNvPicPr>
          <p:nvPr/>
        </p:nvPicPr>
        <p:blipFill>
          <a:blip r:embed="rId3"/>
          <a:stretch>
            <a:fillRect/>
          </a:stretch>
        </p:blipFill>
        <p:spPr>
          <a:xfrm>
            <a:off x="8327756" y="1993933"/>
            <a:ext cx="3440623" cy="1798168"/>
          </a:xfrm>
          <a:prstGeom prst="rect">
            <a:avLst/>
          </a:prstGeom>
          <a:ln>
            <a:noFill/>
          </a:ln>
          <a:effectLst>
            <a:outerShdw blurRad="292100" dist="139700" dir="2700000" algn="tl" rotWithShape="0">
              <a:srgbClr val="333333">
                <a:alpha val="65000"/>
              </a:srgbClr>
            </a:outerShdw>
          </a:effectLst>
        </p:spPr>
      </p:pic>
      <p:pic>
        <p:nvPicPr>
          <p:cNvPr id="5" name="Picture 4" descr="A sunset over a rocky beach&#10;&#10;Description automatically generated">
            <a:extLst>
              <a:ext uri="{FF2B5EF4-FFF2-40B4-BE49-F238E27FC236}">
                <a16:creationId xmlns:a16="http://schemas.microsoft.com/office/drawing/2014/main" id="{6E6B9B33-8C55-A47B-7C54-FCB3F5718B3C}"/>
              </a:ext>
            </a:extLst>
          </p:cNvPr>
          <p:cNvPicPr>
            <a:picLocks noChangeAspect="1"/>
          </p:cNvPicPr>
          <p:nvPr/>
        </p:nvPicPr>
        <p:blipFill>
          <a:blip r:embed="rId4"/>
          <a:stretch>
            <a:fillRect/>
          </a:stretch>
        </p:blipFill>
        <p:spPr>
          <a:xfrm>
            <a:off x="2035628" y="3897383"/>
            <a:ext cx="3592286" cy="1077089"/>
          </a:xfrm>
          <a:prstGeom prst="rect">
            <a:avLst/>
          </a:prstGeom>
        </p:spPr>
      </p:pic>
      <p:pic>
        <p:nvPicPr>
          <p:cNvPr id="6" name="Picture 5" descr="A screen shot of a computer&#10;&#10;Description automatically generated">
            <a:extLst>
              <a:ext uri="{FF2B5EF4-FFF2-40B4-BE49-F238E27FC236}">
                <a16:creationId xmlns:a16="http://schemas.microsoft.com/office/drawing/2014/main" id="{C818C1AE-F114-0F3D-60F5-1D35B7F61982}"/>
              </a:ext>
            </a:extLst>
          </p:cNvPr>
          <p:cNvPicPr>
            <a:picLocks noChangeAspect="1"/>
          </p:cNvPicPr>
          <p:nvPr/>
        </p:nvPicPr>
        <p:blipFill>
          <a:blip r:embed="rId5"/>
          <a:stretch>
            <a:fillRect/>
          </a:stretch>
        </p:blipFill>
        <p:spPr>
          <a:xfrm>
            <a:off x="5965371" y="3989934"/>
            <a:ext cx="2743200" cy="1272988"/>
          </a:xfrm>
          <a:prstGeom prst="rect">
            <a:avLst/>
          </a:prstGeom>
        </p:spPr>
      </p:pic>
    </p:spTree>
    <p:extLst>
      <p:ext uri="{BB962C8B-B14F-4D97-AF65-F5344CB8AC3E}">
        <p14:creationId xmlns:p14="http://schemas.microsoft.com/office/powerpoint/2010/main" val="264272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7BA6C-FDDD-FEDE-DCFB-9017A4D35B80}"/>
              </a:ext>
            </a:extLst>
          </p:cNvPr>
          <p:cNvSpPr>
            <a:spLocks noGrp="1"/>
          </p:cNvSpPr>
          <p:nvPr>
            <p:ph type="title"/>
          </p:nvPr>
        </p:nvSpPr>
        <p:spPr>
          <a:xfrm>
            <a:off x="1531936" y="0"/>
            <a:ext cx="10018713" cy="1752599"/>
          </a:xfrm>
        </p:spPr>
        <p:txBody>
          <a:bodyPr/>
          <a:lstStyle/>
          <a:p>
            <a:r>
              <a:rPr lang="en-US">
                <a:cs typeface="Calibri Light"/>
              </a:rPr>
              <a:t>Solution(s)</a:t>
            </a:r>
            <a:endParaRPr lang="en-US"/>
          </a:p>
        </p:txBody>
      </p:sp>
      <p:sp>
        <p:nvSpPr>
          <p:cNvPr id="3" name="Content Placeholder 2">
            <a:extLst>
              <a:ext uri="{FF2B5EF4-FFF2-40B4-BE49-F238E27FC236}">
                <a16:creationId xmlns:a16="http://schemas.microsoft.com/office/drawing/2014/main" id="{C4BD0463-3266-9E57-C312-F4B37CAE9DDD}"/>
              </a:ext>
            </a:extLst>
          </p:cNvPr>
          <p:cNvSpPr>
            <a:spLocks noGrp="1"/>
          </p:cNvSpPr>
          <p:nvPr>
            <p:ph idx="1"/>
          </p:nvPr>
        </p:nvSpPr>
        <p:spPr>
          <a:xfrm>
            <a:off x="1478461" y="2270792"/>
            <a:ext cx="10018713" cy="3124201"/>
          </a:xfrm>
        </p:spPr>
        <p:txBody>
          <a:bodyPr/>
          <a:lstStyle/>
          <a:p>
            <a:r>
              <a:rPr lang="en-US"/>
              <a:t>Vanilla Convolutional Neural Network Architecture.</a:t>
            </a:r>
          </a:p>
          <a:p>
            <a:pPr>
              <a:buClr>
                <a:srgbClr val="1287C3"/>
              </a:buClr>
            </a:pPr>
            <a:endParaRPr lang="en-US"/>
          </a:p>
          <a:p>
            <a:pPr>
              <a:buClr>
                <a:srgbClr val="1287C3"/>
              </a:buClr>
            </a:pPr>
            <a:endParaRPr lang="en-US"/>
          </a:p>
          <a:p>
            <a:pPr>
              <a:buClr>
                <a:srgbClr val="1287C3"/>
              </a:buClr>
            </a:pPr>
            <a:r>
              <a:rPr lang="en-US"/>
              <a:t>Convolutional Neural Network Architecture with Transfer Learning.</a:t>
            </a:r>
          </a:p>
          <a:p>
            <a:pPr>
              <a:buClr>
                <a:srgbClr val="1287C3"/>
              </a:buClr>
            </a:pPr>
            <a:endParaRPr lang="en-US"/>
          </a:p>
          <a:p>
            <a:pPr>
              <a:buClr>
                <a:srgbClr val="1287C3"/>
              </a:buClr>
            </a:pPr>
            <a:endParaRPr lang="en-US"/>
          </a:p>
        </p:txBody>
      </p:sp>
      <p:pic>
        <p:nvPicPr>
          <p:cNvPr id="4" name="Picture 3" descr="A table with numbers and text&#10;&#10;Description automatically generated">
            <a:extLst>
              <a:ext uri="{FF2B5EF4-FFF2-40B4-BE49-F238E27FC236}">
                <a16:creationId xmlns:a16="http://schemas.microsoft.com/office/drawing/2014/main" id="{7AF3DF2D-21AE-8A89-65A5-54DCF46DE611}"/>
              </a:ext>
            </a:extLst>
          </p:cNvPr>
          <p:cNvPicPr>
            <a:picLocks noChangeAspect="1"/>
          </p:cNvPicPr>
          <p:nvPr/>
        </p:nvPicPr>
        <p:blipFill>
          <a:blip r:embed="rId3"/>
          <a:stretch>
            <a:fillRect/>
          </a:stretch>
        </p:blipFill>
        <p:spPr>
          <a:xfrm>
            <a:off x="1479331" y="4678566"/>
            <a:ext cx="9929648" cy="2018440"/>
          </a:xfrm>
          <a:prstGeom prst="rect">
            <a:avLst/>
          </a:prstGeom>
        </p:spPr>
      </p:pic>
    </p:spTree>
    <p:extLst>
      <p:ext uri="{BB962C8B-B14F-4D97-AF65-F5344CB8AC3E}">
        <p14:creationId xmlns:p14="http://schemas.microsoft.com/office/powerpoint/2010/main" val="3027971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AAA45-E4CA-2FF8-4361-61860FCC16E0}"/>
              </a:ext>
            </a:extLst>
          </p:cNvPr>
          <p:cNvSpPr>
            <a:spLocks noGrp="1"/>
          </p:cNvSpPr>
          <p:nvPr>
            <p:ph type="title"/>
          </p:nvPr>
        </p:nvSpPr>
        <p:spPr>
          <a:xfrm>
            <a:off x="1579561" y="0"/>
            <a:ext cx="10018713" cy="1752599"/>
          </a:xfrm>
        </p:spPr>
        <p:txBody>
          <a:bodyPr/>
          <a:lstStyle/>
          <a:p>
            <a:r>
              <a:rPr lang="en-US">
                <a:cs typeface="Calibri Light"/>
              </a:rPr>
              <a:t>Vanilla CNN Model and Structure</a:t>
            </a:r>
            <a:endParaRPr lang="en-US"/>
          </a:p>
        </p:txBody>
      </p:sp>
      <p:sp>
        <p:nvSpPr>
          <p:cNvPr id="3" name="Content Placeholder 2">
            <a:extLst>
              <a:ext uri="{FF2B5EF4-FFF2-40B4-BE49-F238E27FC236}">
                <a16:creationId xmlns:a16="http://schemas.microsoft.com/office/drawing/2014/main" id="{93080787-3A67-9E24-C88D-4103A87DC346}"/>
              </a:ext>
            </a:extLst>
          </p:cNvPr>
          <p:cNvSpPr>
            <a:spLocks noGrp="1"/>
          </p:cNvSpPr>
          <p:nvPr>
            <p:ph idx="1"/>
          </p:nvPr>
        </p:nvSpPr>
        <p:spPr>
          <a:xfrm>
            <a:off x="1436852" y="1195804"/>
            <a:ext cx="10018713" cy="3769963"/>
          </a:xfrm>
        </p:spPr>
        <p:txBody>
          <a:bodyPr/>
          <a:lstStyle/>
          <a:p>
            <a:r>
              <a:rPr lang="en-US"/>
              <a:t>4 Convolutional Layers, 4 Max Pooling layers, 1 flatten layer, 3 dense layers, 1 dropout layer.</a:t>
            </a:r>
          </a:p>
          <a:p>
            <a:pPr>
              <a:buClr>
                <a:srgbClr val="1287C3"/>
              </a:buClr>
            </a:pPr>
            <a:r>
              <a:rPr lang="en-US"/>
              <a:t>10 epoch runs, Adam optimizer, 10% validation data.</a:t>
            </a:r>
          </a:p>
          <a:p>
            <a:pPr>
              <a:buClr>
                <a:srgbClr val="1287C3"/>
              </a:buClr>
            </a:pPr>
            <a:r>
              <a:rPr lang="en-US" err="1"/>
              <a:t>ReLU</a:t>
            </a:r>
            <a:r>
              <a:rPr lang="en-US"/>
              <a:t> activation functions, and </a:t>
            </a:r>
            <a:r>
              <a:rPr lang="en-US" err="1"/>
              <a:t>softmax</a:t>
            </a:r>
            <a:r>
              <a:rPr lang="en-US"/>
              <a:t> activation functions.</a:t>
            </a:r>
          </a:p>
          <a:p>
            <a:pPr>
              <a:buClr>
                <a:srgbClr val="1287C3"/>
              </a:buClr>
            </a:pPr>
            <a:r>
              <a:rPr lang="en-US"/>
              <a:t>Sparse Categorical Cross-Entropy loss function.</a:t>
            </a:r>
          </a:p>
          <a:p>
            <a:pPr>
              <a:buClr>
                <a:srgbClr val="1287C3"/>
              </a:buClr>
            </a:pPr>
            <a:r>
              <a:rPr lang="en-US" err="1"/>
              <a:t>RMSProp</a:t>
            </a:r>
            <a:r>
              <a:rPr lang="en-US"/>
              <a:t> optimizer. Accuracy Metric.</a:t>
            </a:r>
          </a:p>
        </p:txBody>
      </p:sp>
      <p:pic>
        <p:nvPicPr>
          <p:cNvPr id="5" name="Picture 4" descr="A screenshot of a computer&#10;&#10;Description automatically generated">
            <a:extLst>
              <a:ext uri="{FF2B5EF4-FFF2-40B4-BE49-F238E27FC236}">
                <a16:creationId xmlns:a16="http://schemas.microsoft.com/office/drawing/2014/main" id="{21828F79-7578-B02E-10DE-78541E6504BF}"/>
              </a:ext>
            </a:extLst>
          </p:cNvPr>
          <p:cNvPicPr>
            <a:picLocks noChangeAspect="1"/>
          </p:cNvPicPr>
          <p:nvPr/>
        </p:nvPicPr>
        <p:blipFill>
          <a:blip r:embed="rId3"/>
          <a:stretch>
            <a:fillRect/>
          </a:stretch>
        </p:blipFill>
        <p:spPr>
          <a:xfrm>
            <a:off x="9448211" y="2118049"/>
            <a:ext cx="2743200" cy="3706330"/>
          </a:xfrm>
          <a:prstGeom prst="rect">
            <a:avLst/>
          </a:prstGeom>
        </p:spPr>
      </p:pic>
      <p:pic>
        <p:nvPicPr>
          <p:cNvPr id="4" name="Picture 3" descr="A screenshot of a computer code&#10;&#10;Description automatically generated">
            <a:extLst>
              <a:ext uri="{FF2B5EF4-FFF2-40B4-BE49-F238E27FC236}">
                <a16:creationId xmlns:a16="http://schemas.microsoft.com/office/drawing/2014/main" id="{E89D9ABF-6358-A7CE-3EA7-C3D69773428F}"/>
              </a:ext>
            </a:extLst>
          </p:cNvPr>
          <p:cNvPicPr>
            <a:picLocks noChangeAspect="1"/>
          </p:cNvPicPr>
          <p:nvPr/>
        </p:nvPicPr>
        <p:blipFill>
          <a:blip r:embed="rId4"/>
          <a:stretch>
            <a:fillRect/>
          </a:stretch>
        </p:blipFill>
        <p:spPr>
          <a:xfrm>
            <a:off x="-2583" y="4482345"/>
            <a:ext cx="5210013" cy="22844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43685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1E48C-0A7F-1B4B-164E-0E02038DF209}"/>
              </a:ext>
            </a:extLst>
          </p:cNvPr>
          <p:cNvSpPr>
            <a:spLocks noGrp="1"/>
          </p:cNvSpPr>
          <p:nvPr>
            <p:ph type="title"/>
          </p:nvPr>
        </p:nvSpPr>
        <p:spPr>
          <a:xfrm>
            <a:off x="1406820" y="1292"/>
            <a:ext cx="10018713" cy="1752599"/>
          </a:xfrm>
        </p:spPr>
        <p:txBody>
          <a:bodyPr/>
          <a:lstStyle/>
          <a:p>
            <a:r>
              <a:rPr lang="en-US"/>
              <a:t>Vanilla CNN Results</a:t>
            </a:r>
          </a:p>
        </p:txBody>
      </p:sp>
      <p:sp>
        <p:nvSpPr>
          <p:cNvPr id="3" name="Content Placeholder 2">
            <a:extLst>
              <a:ext uri="{FF2B5EF4-FFF2-40B4-BE49-F238E27FC236}">
                <a16:creationId xmlns:a16="http://schemas.microsoft.com/office/drawing/2014/main" id="{A82C8701-1B3F-9C1E-9E33-AA41E36E3F0A}"/>
              </a:ext>
            </a:extLst>
          </p:cNvPr>
          <p:cNvSpPr>
            <a:spLocks noGrp="1"/>
          </p:cNvSpPr>
          <p:nvPr>
            <p:ph idx="1"/>
          </p:nvPr>
        </p:nvSpPr>
        <p:spPr>
          <a:xfrm>
            <a:off x="6353361" y="626389"/>
            <a:ext cx="4503900" cy="2439694"/>
          </a:xfrm>
        </p:spPr>
        <p:txBody>
          <a:bodyPr/>
          <a:lstStyle/>
          <a:p>
            <a:r>
              <a:rPr lang="en-US"/>
              <a:t>Augmented Data</a:t>
            </a:r>
          </a:p>
          <a:p>
            <a:pPr>
              <a:buClr>
                <a:srgbClr val="1287C3"/>
              </a:buClr>
            </a:pPr>
            <a:r>
              <a:rPr lang="en-US"/>
              <a:t>Training Accuracy Score: 85%</a:t>
            </a:r>
          </a:p>
          <a:p>
            <a:pPr>
              <a:buClr>
                <a:srgbClr val="1287C3"/>
              </a:buClr>
            </a:pPr>
            <a:r>
              <a:rPr lang="en-US"/>
              <a:t>Test Accuracy Score: 68%</a:t>
            </a:r>
          </a:p>
        </p:txBody>
      </p:sp>
      <p:pic>
        <p:nvPicPr>
          <p:cNvPr id="4" name="Picture 3" descr="A graph with a red line and blue line&#10;&#10;Description automatically generated">
            <a:extLst>
              <a:ext uri="{FF2B5EF4-FFF2-40B4-BE49-F238E27FC236}">
                <a16:creationId xmlns:a16="http://schemas.microsoft.com/office/drawing/2014/main" id="{AC1D5188-C9C9-84D3-1A68-8566C894ACFD}"/>
              </a:ext>
            </a:extLst>
          </p:cNvPr>
          <p:cNvPicPr>
            <a:picLocks noChangeAspect="1"/>
          </p:cNvPicPr>
          <p:nvPr/>
        </p:nvPicPr>
        <p:blipFill>
          <a:blip r:embed="rId3"/>
          <a:stretch>
            <a:fillRect/>
          </a:stretch>
        </p:blipFill>
        <p:spPr>
          <a:xfrm>
            <a:off x="-183396" y="2361928"/>
            <a:ext cx="4163877" cy="2340787"/>
          </a:xfrm>
          <a:prstGeom prst="rect">
            <a:avLst/>
          </a:prstGeom>
        </p:spPr>
      </p:pic>
      <p:sp>
        <p:nvSpPr>
          <p:cNvPr id="6" name="Content Placeholder 2">
            <a:extLst>
              <a:ext uri="{FF2B5EF4-FFF2-40B4-BE49-F238E27FC236}">
                <a16:creationId xmlns:a16="http://schemas.microsoft.com/office/drawing/2014/main" id="{B77136BC-79B8-16E7-ABD4-98DADFCF1A46}"/>
              </a:ext>
            </a:extLst>
          </p:cNvPr>
          <p:cNvSpPr txBox="1">
            <a:spLocks/>
          </p:cNvSpPr>
          <p:nvPr/>
        </p:nvSpPr>
        <p:spPr>
          <a:xfrm>
            <a:off x="1481727" y="391331"/>
            <a:ext cx="4503900" cy="2736744"/>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US"/>
              <a:t>Non-Augmented Data</a:t>
            </a:r>
          </a:p>
          <a:p>
            <a:pPr>
              <a:buClr>
                <a:srgbClr val="1287C3"/>
              </a:buClr>
            </a:pPr>
            <a:r>
              <a:rPr lang="en-US"/>
              <a:t>Training Accuracy Score: 91%</a:t>
            </a:r>
          </a:p>
          <a:p>
            <a:pPr>
              <a:buClr>
                <a:srgbClr val="1287C3"/>
              </a:buClr>
            </a:pPr>
            <a:r>
              <a:rPr lang="en-US"/>
              <a:t>Test Accuracy Score: 78.40%</a:t>
            </a:r>
          </a:p>
        </p:txBody>
      </p:sp>
      <p:pic>
        <p:nvPicPr>
          <p:cNvPr id="7" name="Picture 6" descr="A screenshot of a computer&#10;&#10;Description automatically generated">
            <a:extLst>
              <a:ext uri="{FF2B5EF4-FFF2-40B4-BE49-F238E27FC236}">
                <a16:creationId xmlns:a16="http://schemas.microsoft.com/office/drawing/2014/main" id="{60ECC0B2-C70B-5385-ABDC-28EBE7BDDB22}"/>
              </a:ext>
            </a:extLst>
          </p:cNvPr>
          <p:cNvPicPr>
            <a:picLocks noChangeAspect="1"/>
          </p:cNvPicPr>
          <p:nvPr/>
        </p:nvPicPr>
        <p:blipFill>
          <a:blip r:embed="rId4"/>
          <a:stretch>
            <a:fillRect/>
          </a:stretch>
        </p:blipFill>
        <p:spPr>
          <a:xfrm>
            <a:off x="3691180" y="2525355"/>
            <a:ext cx="2588217" cy="3111729"/>
          </a:xfrm>
          <a:prstGeom prst="rect">
            <a:avLst/>
          </a:prstGeom>
          <a:ln>
            <a:noFill/>
          </a:ln>
          <a:effectLst>
            <a:outerShdw blurRad="292100" dist="139700" dir="2700000" algn="tl" rotWithShape="0">
              <a:srgbClr val="333333">
                <a:alpha val="65000"/>
              </a:srgbClr>
            </a:outerShdw>
          </a:effectLst>
        </p:spPr>
      </p:pic>
      <p:pic>
        <p:nvPicPr>
          <p:cNvPr id="5" name="Picture 4" descr="A screenshot of a computer&#10;&#10;Description automatically generated">
            <a:extLst>
              <a:ext uri="{FF2B5EF4-FFF2-40B4-BE49-F238E27FC236}">
                <a16:creationId xmlns:a16="http://schemas.microsoft.com/office/drawing/2014/main" id="{9798F50A-D497-3E48-5A2A-8C5569473945}"/>
              </a:ext>
            </a:extLst>
          </p:cNvPr>
          <p:cNvPicPr>
            <a:picLocks noChangeAspect="1"/>
          </p:cNvPicPr>
          <p:nvPr/>
        </p:nvPicPr>
        <p:blipFill>
          <a:blip r:embed="rId5"/>
          <a:stretch>
            <a:fillRect/>
          </a:stretch>
        </p:blipFill>
        <p:spPr>
          <a:xfrm>
            <a:off x="49078" y="4431901"/>
            <a:ext cx="2769030" cy="2333725"/>
          </a:xfrm>
          <a:prstGeom prst="rect">
            <a:avLst/>
          </a:prstGeom>
          <a:ln>
            <a:noFill/>
          </a:ln>
          <a:effectLst>
            <a:outerShdw blurRad="292100" dist="139700" dir="2700000" algn="tl" rotWithShape="0">
              <a:srgbClr val="333333">
                <a:alpha val="65000"/>
              </a:srgbClr>
            </a:outerShdw>
          </a:effectLst>
        </p:spPr>
      </p:pic>
      <p:pic>
        <p:nvPicPr>
          <p:cNvPr id="8" name="Picture 7" descr="A graph with a red line and blue line&#10;&#10;Description automatically generated">
            <a:extLst>
              <a:ext uri="{FF2B5EF4-FFF2-40B4-BE49-F238E27FC236}">
                <a16:creationId xmlns:a16="http://schemas.microsoft.com/office/drawing/2014/main" id="{ED4FE45F-535B-C08C-4DC5-BF668123816B}"/>
              </a:ext>
            </a:extLst>
          </p:cNvPr>
          <p:cNvPicPr>
            <a:picLocks noChangeAspect="1"/>
          </p:cNvPicPr>
          <p:nvPr/>
        </p:nvPicPr>
        <p:blipFill>
          <a:blip r:embed="rId6"/>
          <a:stretch>
            <a:fillRect/>
          </a:stretch>
        </p:blipFill>
        <p:spPr>
          <a:xfrm>
            <a:off x="9309315" y="2521132"/>
            <a:ext cx="2885268" cy="1686583"/>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D3D3A59C-DDBA-F4F9-0FA5-8EB71371F316}"/>
              </a:ext>
            </a:extLst>
          </p:cNvPr>
          <p:cNvPicPr>
            <a:picLocks noChangeAspect="1"/>
          </p:cNvPicPr>
          <p:nvPr/>
        </p:nvPicPr>
        <p:blipFill>
          <a:blip r:embed="rId7"/>
          <a:stretch>
            <a:fillRect/>
          </a:stretch>
        </p:blipFill>
        <p:spPr>
          <a:xfrm>
            <a:off x="9244738" y="4369743"/>
            <a:ext cx="2588217" cy="2393463"/>
          </a:xfrm>
          <a:prstGeom prst="rect">
            <a:avLst/>
          </a:prstGeom>
        </p:spPr>
      </p:pic>
      <p:pic>
        <p:nvPicPr>
          <p:cNvPr id="11" name="Picture 10" descr="A screenshot of a graph&#10;&#10;Description automatically generated">
            <a:extLst>
              <a:ext uri="{FF2B5EF4-FFF2-40B4-BE49-F238E27FC236}">
                <a16:creationId xmlns:a16="http://schemas.microsoft.com/office/drawing/2014/main" id="{B11A4583-44E7-24DA-1CDA-67E25CAFA5AB}"/>
              </a:ext>
            </a:extLst>
          </p:cNvPr>
          <p:cNvPicPr>
            <a:picLocks noChangeAspect="1"/>
          </p:cNvPicPr>
          <p:nvPr/>
        </p:nvPicPr>
        <p:blipFill>
          <a:blip r:embed="rId8"/>
          <a:stretch>
            <a:fillRect/>
          </a:stretch>
        </p:blipFill>
        <p:spPr>
          <a:xfrm>
            <a:off x="6416299" y="2518268"/>
            <a:ext cx="2665709" cy="32292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94866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2E855-8738-A0D5-B471-87CDB08F4347}"/>
              </a:ext>
            </a:extLst>
          </p:cNvPr>
          <p:cNvSpPr>
            <a:spLocks noGrp="1"/>
          </p:cNvSpPr>
          <p:nvPr>
            <p:ph type="title"/>
          </p:nvPr>
        </p:nvSpPr>
        <p:spPr/>
        <p:txBody>
          <a:bodyPr/>
          <a:lstStyle/>
          <a:p>
            <a:r>
              <a:rPr lang="en-US"/>
              <a:t>VGG 16 and 19 Transfer Learning Model</a:t>
            </a:r>
          </a:p>
        </p:txBody>
      </p:sp>
      <p:pic>
        <p:nvPicPr>
          <p:cNvPr id="4" name="Content Placeholder 3" descr="VGG-16 | CNN model - GeeksforGeeks">
            <a:extLst>
              <a:ext uri="{FF2B5EF4-FFF2-40B4-BE49-F238E27FC236}">
                <a16:creationId xmlns:a16="http://schemas.microsoft.com/office/drawing/2014/main" id="{2889BC8C-1453-CF6B-AF96-F25E372C12EF}"/>
              </a:ext>
            </a:extLst>
          </p:cNvPr>
          <p:cNvPicPr>
            <a:picLocks noGrp="1" noChangeAspect="1"/>
          </p:cNvPicPr>
          <p:nvPr>
            <p:ph idx="1"/>
          </p:nvPr>
        </p:nvPicPr>
        <p:blipFill>
          <a:blip r:embed="rId3"/>
          <a:stretch>
            <a:fillRect/>
          </a:stretch>
        </p:blipFill>
        <p:spPr>
          <a:xfrm>
            <a:off x="219646" y="2090058"/>
            <a:ext cx="5951303" cy="4212772"/>
          </a:xfrm>
        </p:spPr>
      </p:pic>
      <p:pic>
        <p:nvPicPr>
          <p:cNvPr id="5" name="Picture 4" descr="CNNFeatureVis_handout.ipynb - Colaboratory">
            <a:extLst>
              <a:ext uri="{FF2B5EF4-FFF2-40B4-BE49-F238E27FC236}">
                <a16:creationId xmlns:a16="http://schemas.microsoft.com/office/drawing/2014/main" id="{DBD7A6B6-D9A1-EF54-573D-D1979942AE75}"/>
              </a:ext>
            </a:extLst>
          </p:cNvPr>
          <p:cNvPicPr>
            <a:picLocks noChangeAspect="1"/>
          </p:cNvPicPr>
          <p:nvPr/>
        </p:nvPicPr>
        <p:blipFill>
          <a:blip r:embed="rId4"/>
          <a:stretch>
            <a:fillRect/>
          </a:stretch>
        </p:blipFill>
        <p:spPr>
          <a:xfrm>
            <a:off x="6243638" y="2383289"/>
            <a:ext cx="5735411" cy="3354162"/>
          </a:xfrm>
          <a:prstGeom prst="rect">
            <a:avLst/>
          </a:prstGeom>
        </p:spPr>
      </p:pic>
    </p:spTree>
    <p:extLst>
      <p:ext uri="{BB962C8B-B14F-4D97-AF65-F5344CB8AC3E}">
        <p14:creationId xmlns:p14="http://schemas.microsoft.com/office/powerpoint/2010/main" val="4289431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CA6A7-392B-CED1-1085-DF28C5FE79CA}"/>
              </a:ext>
            </a:extLst>
          </p:cNvPr>
          <p:cNvSpPr>
            <a:spLocks noGrp="1"/>
          </p:cNvSpPr>
          <p:nvPr>
            <p:ph type="title"/>
          </p:nvPr>
        </p:nvSpPr>
        <p:spPr/>
        <p:txBody>
          <a:bodyPr/>
          <a:lstStyle/>
          <a:p>
            <a:r>
              <a:rPr lang="en-US" err="1"/>
              <a:t>EfficentNet</a:t>
            </a:r>
            <a:r>
              <a:rPr lang="en-US"/>
              <a:t> Transfer Learning Model </a:t>
            </a:r>
          </a:p>
        </p:txBody>
      </p:sp>
      <p:pic>
        <p:nvPicPr>
          <p:cNvPr id="4" name="Content Placeholder 3">
            <a:extLst>
              <a:ext uri="{FF2B5EF4-FFF2-40B4-BE49-F238E27FC236}">
                <a16:creationId xmlns:a16="http://schemas.microsoft.com/office/drawing/2014/main" id="{F5FBC8DF-87A9-D78F-52B7-CD0238DAFC90}"/>
              </a:ext>
            </a:extLst>
          </p:cNvPr>
          <p:cNvPicPr>
            <a:picLocks noGrp="1" noChangeAspect="1"/>
          </p:cNvPicPr>
          <p:nvPr>
            <p:ph idx="1"/>
          </p:nvPr>
        </p:nvPicPr>
        <p:blipFill>
          <a:blip r:embed="rId3"/>
          <a:stretch>
            <a:fillRect/>
          </a:stretch>
        </p:blipFill>
        <p:spPr>
          <a:xfrm>
            <a:off x="1527059" y="1998209"/>
            <a:ext cx="9944100" cy="3982810"/>
          </a:xfrm>
        </p:spPr>
      </p:pic>
    </p:spTree>
    <p:extLst>
      <p:ext uri="{BB962C8B-B14F-4D97-AF65-F5344CB8AC3E}">
        <p14:creationId xmlns:p14="http://schemas.microsoft.com/office/powerpoint/2010/main" val="1081181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444EC-FBDF-A539-4727-97CE317BA860}"/>
              </a:ext>
            </a:extLst>
          </p:cNvPr>
          <p:cNvSpPr>
            <a:spLocks noGrp="1"/>
          </p:cNvSpPr>
          <p:nvPr>
            <p:ph type="title"/>
          </p:nvPr>
        </p:nvSpPr>
        <p:spPr/>
        <p:txBody>
          <a:bodyPr/>
          <a:lstStyle/>
          <a:p>
            <a:r>
              <a:rPr lang="en-US"/>
              <a:t>ResNet 50 Transfer Learning Model</a:t>
            </a:r>
          </a:p>
        </p:txBody>
      </p:sp>
      <p:pic>
        <p:nvPicPr>
          <p:cNvPr id="4" name="Content Placeholder 3" descr="A diagram of a diagram&#10;&#10;Description automatically generated">
            <a:extLst>
              <a:ext uri="{FF2B5EF4-FFF2-40B4-BE49-F238E27FC236}">
                <a16:creationId xmlns:a16="http://schemas.microsoft.com/office/drawing/2014/main" id="{9792D33F-B973-475D-69A4-B039CE5210EC}"/>
              </a:ext>
            </a:extLst>
          </p:cNvPr>
          <p:cNvPicPr>
            <a:picLocks noGrp="1" noChangeAspect="1"/>
          </p:cNvPicPr>
          <p:nvPr>
            <p:ph idx="1"/>
          </p:nvPr>
        </p:nvPicPr>
        <p:blipFill>
          <a:blip r:embed="rId3"/>
          <a:stretch>
            <a:fillRect/>
          </a:stretch>
        </p:blipFill>
        <p:spPr>
          <a:xfrm>
            <a:off x="2688688" y="2253342"/>
            <a:ext cx="5879128" cy="1981201"/>
          </a:xfrm>
        </p:spPr>
      </p:pic>
      <p:sp>
        <p:nvSpPr>
          <p:cNvPr id="6" name="Title 1">
            <a:extLst>
              <a:ext uri="{FF2B5EF4-FFF2-40B4-BE49-F238E27FC236}">
                <a16:creationId xmlns:a16="http://schemas.microsoft.com/office/drawing/2014/main" id="{8B671A06-7848-64AF-A38C-679E26792713}"/>
              </a:ext>
            </a:extLst>
          </p:cNvPr>
          <p:cNvSpPr txBox="1">
            <a:spLocks/>
          </p:cNvSpPr>
          <p:nvPr/>
        </p:nvSpPr>
        <p:spPr>
          <a:xfrm>
            <a:off x="733197" y="1208314"/>
            <a:ext cx="10018713" cy="1752599"/>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a:t>Residual block</a:t>
            </a:r>
          </a:p>
        </p:txBody>
      </p:sp>
      <p:pic>
        <p:nvPicPr>
          <p:cNvPr id="8" name="Picture 7" descr="Resnet Architecture Explained. In their 2015 publication “Deep… | by  Siddhesh Bangar | Medium">
            <a:extLst>
              <a:ext uri="{FF2B5EF4-FFF2-40B4-BE49-F238E27FC236}">
                <a16:creationId xmlns:a16="http://schemas.microsoft.com/office/drawing/2014/main" id="{F14C0EA0-EDFC-3B08-CADE-A059A57A3339}"/>
              </a:ext>
            </a:extLst>
          </p:cNvPr>
          <p:cNvPicPr>
            <a:picLocks noChangeAspect="1"/>
          </p:cNvPicPr>
          <p:nvPr/>
        </p:nvPicPr>
        <p:blipFill>
          <a:blip r:embed="rId4"/>
          <a:stretch>
            <a:fillRect/>
          </a:stretch>
        </p:blipFill>
        <p:spPr>
          <a:xfrm>
            <a:off x="3396343" y="4297680"/>
            <a:ext cx="4953000" cy="2508068"/>
          </a:xfrm>
          <a:prstGeom prst="rect">
            <a:avLst/>
          </a:prstGeom>
        </p:spPr>
      </p:pic>
    </p:spTree>
    <p:extLst>
      <p:ext uri="{BB962C8B-B14F-4D97-AF65-F5344CB8AC3E}">
        <p14:creationId xmlns:p14="http://schemas.microsoft.com/office/powerpoint/2010/main" val="1514590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D1520-CE6E-94BB-D86E-D609D59E0DE4}"/>
              </a:ext>
            </a:extLst>
          </p:cNvPr>
          <p:cNvSpPr>
            <a:spLocks noGrp="1"/>
          </p:cNvSpPr>
          <p:nvPr>
            <p:ph type="title"/>
          </p:nvPr>
        </p:nvSpPr>
        <p:spPr>
          <a:xfrm>
            <a:off x="1591467" y="-4762"/>
            <a:ext cx="10018713" cy="1752599"/>
          </a:xfrm>
        </p:spPr>
        <p:txBody>
          <a:bodyPr/>
          <a:lstStyle/>
          <a:p>
            <a:r>
              <a:rPr lang="en-US"/>
              <a:t>Transfer Learning CNN Results</a:t>
            </a:r>
          </a:p>
        </p:txBody>
      </p:sp>
      <p:sp>
        <p:nvSpPr>
          <p:cNvPr id="3" name="Content Placeholder 2">
            <a:extLst>
              <a:ext uri="{FF2B5EF4-FFF2-40B4-BE49-F238E27FC236}">
                <a16:creationId xmlns:a16="http://schemas.microsoft.com/office/drawing/2014/main" id="{C2194794-E7E0-55DB-C443-F467EC4EC9D5}"/>
              </a:ext>
            </a:extLst>
          </p:cNvPr>
          <p:cNvSpPr>
            <a:spLocks noGrp="1"/>
          </p:cNvSpPr>
          <p:nvPr>
            <p:ph idx="1"/>
          </p:nvPr>
        </p:nvSpPr>
        <p:spPr>
          <a:xfrm>
            <a:off x="1636710" y="794656"/>
            <a:ext cx="10018713" cy="3124201"/>
          </a:xfrm>
        </p:spPr>
        <p:txBody>
          <a:bodyPr/>
          <a:lstStyle/>
          <a:p>
            <a:r>
              <a:rPr lang="en-US"/>
              <a:t>Originally with 128 batch size Adam optimizer and 15 epochs all 4 networks produced similar results 90.6%</a:t>
            </a:r>
          </a:p>
          <a:p>
            <a:pPr>
              <a:buClr>
                <a:srgbClr val="1287C3"/>
              </a:buClr>
            </a:pPr>
            <a:r>
              <a:rPr lang="en-US"/>
              <a:t>Resnet 50 had the quickest run time</a:t>
            </a:r>
          </a:p>
          <a:p>
            <a:pPr>
              <a:buClr>
                <a:srgbClr val="1287C3"/>
              </a:buClr>
            </a:pPr>
            <a:r>
              <a:rPr lang="en-US"/>
              <a:t>Best result was 512 batch size 25 epochs 91.1% accuracy </a:t>
            </a:r>
          </a:p>
        </p:txBody>
      </p:sp>
      <p:pic>
        <p:nvPicPr>
          <p:cNvPr id="4" name="Picture 3" descr="A graph of loss and training loss&#10;&#10;Description automatically generated">
            <a:extLst>
              <a:ext uri="{FF2B5EF4-FFF2-40B4-BE49-F238E27FC236}">
                <a16:creationId xmlns:a16="http://schemas.microsoft.com/office/drawing/2014/main" id="{B5B72D2F-0AB4-A6B0-20BD-44D56ACDEEFF}"/>
              </a:ext>
            </a:extLst>
          </p:cNvPr>
          <p:cNvPicPr>
            <a:picLocks noChangeAspect="1"/>
          </p:cNvPicPr>
          <p:nvPr/>
        </p:nvPicPr>
        <p:blipFill>
          <a:blip r:embed="rId3"/>
          <a:stretch>
            <a:fillRect/>
          </a:stretch>
        </p:blipFill>
        <p:spPr>
          <a:xfrm>
            <a:off x="1698171" y="3427675"/>
            <a:ext cx="6531428" cy="2636993"/>
          </a:xfrm>
          <a:prstGeom prst="rect">
            <a:avLst/>
          </a:prstGeom>
        </p:spPr>
      </p:pic>
    </p:spTree>
    <p:extLst>
      <p:ext uri="{BB962C8B-B14F-4D97-AF65-F5344CB8AC3E}">
        <p14:creationId xmlns:p14="http://schemas.microsoft.com/office/powerpoint/2010/main" val="4241160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FDFD6-7670-8D02-88E2-2FD886180D3E}"/>
              </a:ext>
            </a:extLst>
          </p:cNvPr>
          <p:cNvSpPr>
            <a:spLocks noGrp="1"/>
          </p:cNvSpPr>
          <p:nvPr>
            <p:ph type="title"/>
          </p:nvPr>
        </p:nvSpPr>
        <p:spPr>
          <a:xfrm>
            <a:off x="1551153" y="4011"/>
            <a:ext cx="10018713" cy="1752599"/>
          </a:xfrm>
        </p:spPr>
        <p:txBody>
          <a:bodyPr/>
          <a:lstStyle/>
          <a:p>
            <a:r>
              <a:rPr lang="en-US"/>
              <a:t>Pros and Cons </a:t>
            </a:r>
          </a:p>
        </p:txBody>
      </p:sp>
      <p:sp>
        <p:nvSpPr>
          <p:cNvPr id="3" name="Content Placeholder 2">
            <a:extLst>
              <a:ext uri="{FF2B5EF4-FFF2-40B4-BE49-F238E27FC236}">
                <a16:creationId xmlns:a16="http://schemas.microsoft.com/office/drawing/2014/main" id="{13087075-B161-0467-A845-8577C575069E}"/>
              </a:ext>
            </a:extLst>
          </p:cNvPr>
          <p:cNvSpPr>
            <a:spLocks noGrp="1"/>
          </p:cNvSpPr>
          <p:nvPr>
            <p:ph idx="1"/>
          </p:nvPr>
        </p:nvSpPr>
        <p:spPr>
          <a:xfrm>
            <a:off x="1484310" y="1677736"/>
            <a:ext cx="10018713" cy="4113464"/>
          </a:xfrm>
        </p:spPr>
        <p:txBody>
          <a:bodyPr/>
          <a:lstStyle/>
          <a:p>
            <a:r>
              <a:rPr lang="en-US"/>
              <a:t>Vanilla CNN</a:t>
            </a:r>
          </a:p>
          <a:p>
            <a:pPr lvl="1">
              <a:buClr>
                <a:srgbClr val="1287C3"/>
              </a:buClr>
              <a:buFont typeface="Courier New"/>
              <a:buChar char="o"/>
            </a:pPr>
            <a:r>
              <a:rPr lang="en-US"/>
              <a:t>Pros: Shorter training runtime.</a:t>
            </a:r>
          </a:p>
          <a:p>
            <a:pPr lvl="1">
              <a:buClr>
                <a:srgbClr val="1287C3"/>
              </a:buClr>
              <a:buFont typeface="Courier New"/>
              <a:buChar char="o"/>
            </a:pPr>
            <a:r>
              <a:rPr lang="en-US"/>
              <a:t>Cons: Less accurate predictions.</a:t>
            </a:r>
          </a:p>
          <a:p>
            <a:pPr>
              <a:buClr>
                <a:srgbClr val="1287C3"/>
              </a:buClr>
            </a:pPr>
            <a:endParaRPr lang="en-US"/>
          </a:p>
          <a:p>
            <a:pPr>
              <a:buClr>
                <a:srgbClr val="1287C3"/>
              </a:buClr>
            </a:pPr>
            <a:r>
              <a:rPr lang="en-US"/>
              <a:t>Transfer Learning based CNN</a:t>
            </a:r>
          </a:p>
          <a:p>
            <a:pPr lvl="1">
              <a:buClr>
                <a:srgbClr val="1287C3"/>
              </a:buClr>
              <a:buFont typeface="Courier New"/>
              <a:buChar char="o"/>
            </a:pPr>
            <a:r>
              <a:rPr lang="en-US"/>
              <a:t>Pros: More accurate predictions.</a:t>
            </a:r>
          </a:p>
          <a:p>
            <a:pPr lvl="1">
              <a:buClr>
                <a:srgbClr val="1287C3"/>
              </a:buClr>
              <a:buFont typeface="Courier New"/>
              <a:buChar char="o"/>
            </a:pPr>
            <a:r>
              <a:rPr lang="en-US"/>
              <a:t>Cons: Longer training runtime.</a:t>
            </a:r>
          </a:p>
        </p:txBody>
      </p:sp>
    </p:spTree>
    <p:extLst>
      <p:ext uri="{BB962C8B-B14F-4D97-AF65-F5344CB8AC3E}">
        <p14:creationId xmlns:p14="http://schemas.microsoft.com/office/powerpoint/2010/main" val="2960843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AB81-A1F3-DF45-4FF4-2C5689F57C74}"/>
              </a:ext>
            </a:extLst>
          </p:cNvPr>
          <p:cNvSpPr>
            <a:spLocks noGrp="1"/>
          </p:cNvSpPr>
          <p:nvPr>
            <p:ph type="title"/>
          </p:nvPr>
        </p:nvSpPr>
        <p:spPr>
          <a:xfrm>
            <a:off x="1579561" y="0"/>
            <a:ext cx="10018713" cy="1752599"/>
          </a:xfrm>
        </p:spPr>
        <p:txBody>
          <a:bodyPr/>
          <a:lstStyle/>
          <a:p>
            <a:r>
              <a:rPr lang="en-US">
                <a:cs typeface="Calibri Light"/>
              </a:rPr>
              <a:t>Future Work</a:t>
            </a:r>
            <a:endParaRPr lang="en-US"/>
          </a:p>
        </p:txBody>
      </p:sp>
      <p:sp>
        <p:nvSpPr>
          <p:cNvPr id="3" name="Content Placeholder 2">
            <a:extLst>
              <a:ext uri="{FF2B5EF4-FFF2-40B4-BE49-F238E27FC236}">
                <a16:creationId xmlns:a16="http://schemas.microsoft.com/office/drawing/2014/main" id="{6D3065FB-4CDE-5834-8158-BE9CB0B53914}"/>
              </a:ext>
            </a:extLst>
          </p:cNvPr>
          <p:cNvSpPr>
            <a:spLocks noGrp="1"/>
          </p:cNvSpPr>
          <p:nvPr>
            <p:ph idx="1"/>
          </p:nvPr>
        </p:nvSpPr>
        <p:spPr>
          <a:xfrm>
            <a:off x="1427160" y="1543049"/>
            <a:ext cx="10018713" cy="3124201"/>
          </a:xfrm>
        </p:spPr>
        <p:txBody>
          <a:bodyPr/>
          <a:lstStyle/>
          <a:p>
            <a:r>
              <a:rPr lang="en-US"/>
              <a:t>Incorporate the models into a software that sort images into folders for photographers and consumers.</a:t>
            </a:r>
          </a:p>
          <a:p>
            <a:pPr>
              <a:buClr>
                <a:srgbClr val="1287C3"/>
              </a:buClr>
            </a:pPr>
            <a:r>
              <a:rPr lang="en-US"/>
              <a:t>Making our models better at predicting pictures that we ourselves can take in the real world and test. </a:t>
            </a:r>
          </a:p>
          <a:p>
            <a:pPr>
              <a:buClr>
                <a:srgbClr val="1287C3"/>
              </a:buClr>
            </a:pPr>
            <a:r>
              <a:rPr lang="en-US"/>
              <a:t>Think of variation of the idea of image sorting and filter based on their scenery.</a:t>
            </a:r>
          </a:p>
          <a:p>
            <a:pPr>
              <a:buClr>
                <a:srgbClr val="1287C3"/>
              </a:buClr>
            </a:pPr>
            <a:endParaRPr lang="en-US"/>
          </a:p>
        </p:txBody>
      </p:sp>
      <p:pic>
        <p:nvPicPr>
          <p:cNvPr id="4" name="Picture 3" descr="A computer screen shot of a snake&#10;&#10;Description automatically generated">
            <a:extLst>
              <a:ext uri="{FF2B5EF4-FFF2-40B4-BE49-F238E27FC236}">
                <a16:creationId xmlns:a16="http://schemas.microsoft.com/office/drawing/2014/main" id="{05BBA04F-129D-41C1-FD2F-EC54519BC48E}"/>
              </a:ext>
            </a:extLst>
          </p:cNvPr>
          <p:cNvPicPr>
            <a:picLocks noChangeAspect="1"/>
          </p:cNvPicPr>
          <p:nvPr/>
        </p:nvPicPr>
        <p:blipFill>
          <a:blip r:embed="rId3"/>
          <a:stretch>
            <a:fillRect/>
          </a:stretch>
        </p:blipFill>
        <p:spPr>
          <a:xfrm>
            <a:off x="5388808" y="4456006"/>
            <a:ext cx="2085975" cy="1743075"/>
          </a:xfrm>
          <a:prstGeom prst="rect">
            <a:avLst/>
          </a:prstGeom>
        </p:spPr>
      </p:pic>
      <p:pic>
        <p:nvPicPr>
          <p:cNvPr id="5" name="Picture 4" descr="Top 10 Canon Cameras 2020: Best Professional DSLR Camera | Lente da ...">
            <a:extLst>
              <a:ext uri="{FF2B5EF4-FFF2-40B4-BE49-F238E27FC236}">
                <a16:creationId xmlns:a16="http://schemas.microsoft.com/office/drawing/2014/main" id="{249F04F3-7C5C-B9C0-476B-07D610A5748C}"/>
              </a:ext>
            </a:extLst>
          </p:cNvPr>
          <p:cNvPicPr>
            <a:picLocks noChangeAspect="1"/>
          </p:cNvPicPr>
          <p:nvPr/>
        </p:nvPicPr>
        <p:blipFill>
          <a:blip r:embed="rId4"/>
          <a:stretch>
            <a:fillRect/>
          </a:stretch>
        </p:blipFill>
        <p:spPr>
          <a:xfrm>
            <a:off x="2774196" y="4445429"/>
            <a:ext cx="1206285" cy="1828800"/>
          </a:xfrm>
          <a:prstGeom prst="rect">
            <a:avLst/>
          </a:prstGeom>
        </p:spPr>
      </p:pic>
      <p:pic>
        <p:nvPicPr>
          <p:cNvPr id="6" name="Picture 5" descr="13 Windows Documents Folder Icon Images - Documents Icon Windows 8 ...">
            <a:extLst>
              <a:ext uri="{FF2B5EF4-FFF2-40B4-BE49-F238E27FC236}">
                <a16:creationId xmlns:a16="http://schemas.microsoft.com/office/drawing/2014/main" id="{9877181B-E949-9D72-1F0F-F7F17150135B}"/>
              </a:ext>
            </a:extLst>
          </p:cNvPr>
          <p:cNvPicPr>
            <a:picLocks noChangeAspect="1"/>
          </p:cNvPicPr>
          <p:nvPr/>
        </p:nvPicPr>
        <p:blipFill>
          <a:blip r:embed="rId5"/>
          <a:stretch>
            <a:fillRect/>
          </a:stretch>
        </p:blipFill>
        <p:spPr>
          <a:xfrm>
            <a:off x="8896026" y="4449821"/>
            <a:ext cx="1981201" cy="1587544"/>
          </a:xfrm>
          <a:prstGeom prst="rect">
            <a:avLst/>
          </a:prstGeom>
        </p:spPr>
      </p:pic>
    </p:spTree>
    <p:extLst>
      <p:ext uri="{BB962C8B-B14F-4D97-AF65-F5344CB8AC3E}">
        <p14:creationId xmlns:p14="http://schemas.microsoft.com/office/powerpoint/2010/main" val="3062643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BAB2B-6C3C-21E9-9881-371C59699779}"/>
              </a:ext>
            </a:extLst>
          </p:cNvPr>
          <p:cNvSpPr>
            <a:spLocks noGrp="1"/>
          </p:cNvSpPr>
          <p:nvPr>
            <p:ph type="title"/>
          </p:nvPr>
        </p:nvSpPr>
        <p:spPr/>
        <p:txBody>
          <a:bodyPr/>
          <a:lstStyle/>
          <a:p>
            <a:r>
              <a:rPr lang="en-US">
                <a:cs typeface="Calibri Light"/>
              </a:rPr>
              <a:t>Thank You!</a:t>
            </a:r>
            <a:endParaRPr lang="en-US"/>
          </a:p>
        </p:txBody>
      </p:sp>
      <p:sp>
        <p:nvSpPr>
          <p:cNvPr id="3" name="Content Placeholder 2">
            <a:extLst>
              <a:ext uri="{FF2B5EF4-FFF2-40B4-BE49-F238E27FC236}">
                <a16:creationId xmlns:a16="http://schemas.microsoft.com/office/drawing/2014/main" id="{7FD1FAD7-8865-B322-D1A1-6A28BDF6D60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912233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A9544364D05B941AB559CF9719E2743" ma:contentTypeVersion="5" ma:contentTypeDescription="Create a new document." ma:contentTypeScope="" ma:versionID="3d13fa0f0950c3bc7b4dc2c7fcfa27d7">
  <xsd:schema xmlns:xsd="http://www.w3.org/2001/XMLSchema" xmlns:xs="http://www.w3.org/2001/XMLSchema" xmlns:p="http://schemas.microsoft.com/office/2006/metadata/properties" xmlns:ns2="00bd1b18-2571-4ef4-b747-507480ecc6f7" xmlns:ns3="e4950f8a-6b61-49fe-af7f-e8980def0b09" targetNamespace="http://schemas.microsoft.com/office/2006/metadata/properties" ma:root="true" ma:fieldsID="95c3b1e4f7feeafd19a6feb22fe555ac" ns2:_="" ns3:_="">
    <xsd:import namespace="00bd1b18-2571-4ef4-b747-507480ecc6f7"/>
    <xsd:import namespace="e4950f8a-6b61-49fe-af7f-e8980def0b0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bd1b18-2571-4ef4-b747-507480ecc6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950f8a-6b61-49fe-af7f-e8980def0b0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4D94AAB-2321-4342-8A8D-4B7A2F2EAC17}">
  <ds:schemaRefs>
    <ds:schemaRef ds:uri="http://schemas.microsoft.com/sharepoint/v3/contenttype/forms"/>
  </ds:schemaRefs>
</ds:datastoreItem>
</file>

<file path=customXml/itemProps2.xml><?xml version="1.0" encoding="utf-8"?>
<ds:datastoreItem xmlns:ds="http://schemas.openxmlformats.org/officeDocument/2006/customXml" ds:itemID="{B9CD63C8-6285-45DD-80BC-20752471CB99}">
  <ds:schemaRefs>
    <ds:schemaRef ds:uri="00bd1b18-2571-4ef4-b747-507480ecc6f7"/>
    <ds:schemaRef ds:uri="e4950f8a-6b61-49fe-af7f-e8980def0b0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401BDD6-76DB-4BF2-A94A-DEF0AAD71B1C}">
  <ds:schemaRefs>
    <ds:schemaRef ds:uri="e4950f8a-6b61-49fe-af7f-e8980def0b09"/>
    <ds:schemaRef ds:uri="http://purl.org/dc/dcmitype/"/>
    <ds:schemaRef ds:uri="http://www.w3.org/XML/1998/namespace"/>
    <ds:schemaRef ds:uri="00bd1b18-2571-4ef4-b747-507480ecc6f7"/>
    <ds:schemaRef ds:uri="http://schemas.microsoft.com/office/2006/documentManagement/types"/>
    <ds:schemaRef ds:uri="http://purl.org/dc/term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office theme</Template>
  <TotalTime>0</TotalTime>
  <Words>3004</Words>
  <Application>Microsoft Office PowerPoint</Application>
  <PresentationFormat>Widescreen</PresentationFormat>
  <Paragraphs>168</Paragraphs>
  <Slides>16</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Corbel</vt:lpstr>
      <vt:lpstr>Courier New</vt:lpstr>
      <vt:lpstr>Parallax</vt:lpstr>
      <vt:lpstr>Image Multi-class Classification </vt:lpstr>
      <vt:lpstr>Computer Vision and Image Recognition </vt:lpstr>
      <vt:lpstr>The Intel Image Recognition Competition Data Set</vt:lpstr>
      <vt:lpstr>Proposed Ideas and Challenges</vt:lpstr>
      <vt:lpstr>Data Exploration and Analysis</vt:lpstr>
      <vt:lpstr>Data Manipulation</vt:lpstr>
      <vt:lpstr>Solution(s)</vt:lpstr>
      <vt:lpstr>Vanilla CNN Model and Structure</vt:lpstr>
      <vt:lpstr>Vanilla CNN Results</vt:lpstr>
      <vt:lpstr>VGG 16 and 19 Transfer Learning Model</vt:lpstr>
      <vt:lpstr>EfficentNet Transfer Learning Model </vt:lpstr>
      <vt:lpstr>ResNet 50 Transfer Learning Model</vt:lpstr>
      <vt:lpstr>Transfer Learning CNN Results</vt:lpstr>
      <vt:lpstr>Pros and Cons </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Josh Pauly</dc:creator>
  <cp:lastModifiedBy>Pauly, Joshua Frank</cp:lastModifiedBy>
  <cp:revision>2</cp:revision>
  <dcterms:created xsi:type="dcterms:W3CDTF">2013-07-15T20:26:40Z</dcterms:created>
  <dcterms:modified xsi:type="dcterms:W3CDTF">2023-12-09T01:45:44Z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0x0101007A9544364D05B941AB559CF9719E2743</vt:lpwstr>
  </property>
</Properties>
</file>